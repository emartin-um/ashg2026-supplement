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43891200" cy="21945600"/>
  <p:notesSz cx="21945600" cy="438912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LOGISTICS. ASHG 2026, Montréal. Board 1003W, Wednesday 21 Oct, 2:30 to 4:30 PM; set up 9:30 to 10:00 AM; down by 4:30. Canvas 24 x 48 in: print at 150% for 36 x 72 in.
30 SECONDS. The question: when a blood biomarker reads differently in two populations, is that disease, ancestry, or where the sample was collected, and does it change the test? Three answers. Baselines differ by group for 62 of 126 proteins; the 49 African vs HI-WH differences in cognitively normal adults hold in both reagent lots, and the cohort's own genotypes account for CHIT1 and part of IL6R. The AD signal mostly holds: p-tau rises with AD in every group, and one BD-pTau-217 cut flags the same share of normals everywhere, with fewer clinical AD above it at most African sites. And once site is in the model, few regional differences remain: 10 Peruvian and Ecuadorian vs Caribbean, 5 East vs West Africa.
2 MINUTES. Who and how (10 s): 4,273 participants, 22 sites, 50 countries of birth, four groups, two reagent lots. Site and assay run are random effects; log2 reads and a blood-cell score are covariates; on runs 1332 and 1407 half of each plate's offset in the pooled-plasma control is removed. Each lot is fitted alone because the reagent changed between lots. No single term moves the 49 by more than a median 0.06 log2; site matters most. Section 1 (30 s): 49 proteins differ between African and HI-WH cognitively normal participants; all 49 have the same sign in both lots, Spearman 0.93, median size ratio 0.99; 19 are above 2-fold. Fig 3, left: the ε4 association with p-tau differs by group in the lot 1. Right: the difference this cohort's genotypes predict, beside the one we see: 78% of CHIT1, 45% of IL6R, 15% of TIMP3; ε4 predicts 104% of the APOE4 assay's, the control. 30 of the 49 have no variant in the WGS set; 9 have one that does not move the protein. Section 2 (30 s): p-tau rises from NCI through MCI to AD in every group in both lots (different people at each stage, so it reads like a trajectory without being one); BD-pTau-217 rises least in African participants in both (0.26 in lot 1, 0.67 in lot 2). 12 group by diagnosis interactions; BD-pTau-217 holds in the lot 2 alone. A BD-pTau-217 cut at the HI-WH normals' 90th percentile flags 5 to 10% of normals in every group; among clinical AD, 30% of African participants are above it vs 43 to 52% in lot 1, 41% vs 62 to 75% in lot 2, and five of eight African sites sit at 31 to 44%. Clinical diagnosis, no amyloid confirmation in any group, so how much amyloid pathology each AD group carries is unknown. Section 3 (15 s): Peruvian and Ecuadorian vs Caribbean, 10 proteins differ inside one New York site (53, 25 born in Peru, 27 in Ecuador, 1 in Bolivia, vs 379 Caribbean). Across all three sites it's 22, but the 14 extra are all higher in Peruvian and Ecuadorian participants, and the Peru site has no Caribbean participants, so there I can't separate site from origin. East vs West Africa, 5; six of the 15 that hold with site separated are immune; IL6R goes the way rs2228145 predicts (gnomAD, the C allele: Latino 0.53, European 0.40, African 0.13). What I'd like from you: a look at the groups you work with, and whether your cut-points travel.
Q&amp;A CARDS. (1) Ancestry or site? Site is in the model and matters most: without it the African count goes from 49 to 68, HI-MU from 3 to 36. Every 2025 African sample is on run 1332; all 49 keep their sign in the lot 2, where the African samples are on many runs. (2) Is it genetic? Esther's WGS: CHIT1 78%, CCL26 70%, IL6R 45% predicted; CCL2 and CCL17 more predicted than seen (193%, 195%); MME, ARSA, NPY, CCL3, SNCA, VCAM1, ICAM1, IGF1R and SNAP25 have covered variants that move nothing. The 182 African participants with WGS are all in the lot 2 and only 11 genotyped HI-WH are there, so dose cannot be fitted inside a lot. (3) Pre-analytics, blood cells? The blood-cell score is in the model; it moves the 49 by a median 0.03 log2 and took the interactions from 17 to 12. S100A12, SAA1 and FGF2 are among the 49. (4) Fewer p-tau-positive AD at African sites: assay or diagnosis? Same share of normals above the cut; BD-pTau-217 AUC is lower in African participants (0.69 in lot 1, 0.74 in lot 2, vs 0.72 to 0.89 elsewhere); NEFL's AD effect is largest in African participants in lot 1 (0.94). No PET or CSF, so it cannot be settled here. Three African sites (KBTH, CMUL, KATH) sit with the other groups at 50 to 75%. (5) ε4 slope by group: in lot 1, pTau-217 runs from +0.10 in HI-WH (CI through 0) to +0.35 in HI-MU; in lot 2 every group's slope rises except HI-MU, which holds level (+0.35, +0.31). The group difference in slope is a lot-1 result, except BD-pTau-181 (p 0.017 in lot 2). Local ancestry at APOE from the WGS is next. (6) Why is the AD effect larger in lot 2, and which lots differ? The reagent changed between lots, so p-tau is compared within a lot and the 12 do-not-cross markers among the 126 never pool (pTau-217 and BD-pTau-217 among them; 14 on all 131). Of the 49 African differences, 5 disagree between lots (I2 &gt;= 50%: SAA1 83%, CCL26 79%, FGF2 74%, CCL4 67%, IL9 51%) and are not pooled; the other 44 agree, rho 0.93, size ratio 0.99. Lot 1 holds every African sample on run 1332, lot 2 spreads them over 13 sites and many runs, so the lot difference and the run structure are not separable. (7) 62 of 126 with three HI-WH sites? The count is from a parametric bootstrap that redraws the site and run effects under the null, 999 draws per marker and lot, not from the chi-square reference, which gives 68 (the simulated null chi-square runs about 10% above its degrees of freedom). The six the bootstrap loses are at the margin (ACHE, HTT, ICAM1, SAA1, NPTX1, FOLR1; bootstrap p 0.03 to 0.045). Of the 49 African differences, 39 are in the omnibus by the bootstrap, 42 by chi-square. (8) What is the anchor? The pooled-plasma control read high on runs 1332 and 1407 (a November 2025 bay drift); half of each plate's per-target offset is removed from the study samples on those plates. It moves the 49 by a median 0.03 log2, most for CHIT1. (9) What does your Aβ show? Not amyloid status: plasma Aβ42/40 is 0.14 log2 lower in clinical AD than in normals, the same in every group, but it barely separates them (AUC 0.44 to 0.65 by group and lot), and Aβ42 alone does no better. That is why the next step is amyloid PET or CSF, in every group.
DETAIL OFF THE FACE. 65 of 126 differ in cognitively normal adults alone (the plan's estimand, by chi-square; all diagnoses: 62 by the bootstrap, 68 by chi-square). Of the 49, FDR &lt; 0.05 in the lot 1 alone 24, in the lot 2 alone 35, in both 18. AD markers among the 49: Aβ42, TARDBP and SNCA lower, GFAP higher; p-tau and NEFL are not among them. Mean ε4 dose at NCI 0.22 / 0.20 / 0.44 / 0.49 (HI-WH / HI-MU / AA / AFR). BD-pTau-217 AD minus NCI: 0.26 to 0.55 (2025), 0.67 to 1.07 (2026). NEFL rises with AD in every group except HI-MU in lot 2 (+0.36, CI from -0.02; 21 AD). Of the 12 interactions, six hold at FDR &lt; 0.05 in the lot 2 alone: ACHE, IL18, TIMP3, BD-pTau-217, IL1B, CXCL1; pTau-217 (p 5e-5) and NEFL (p 6e-4) do not. Aβ42: 7 very low lot-2 values are out (MULH 4; ABTH, COMI, UJTH 1 each; seven runs); with them out, Aβ42 separates AD in no group (AUC 0.37 to 0.61). TREM2: no AD signal in any group, not among the 49. Fig 6 is NPQ with runs 1332 / 1407 anchored. Fig 5: IL6 rests on the lot 2 (the lots disagree, I² 90%). The model-term table, the six-arm interaction matrix and the five-panel Fig 1 go to the supplement.
Figures: scripts/03_poster_figures.R -&gt; poster/figures_36x72/ (Fig 3b from scripts/15_wgs_pqtl.R). Numbers: output/poster/poster_numbers.txt, output/term_contributions/numbers.txt, output/wgs_pqtl/.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slideLayout" Target="../slideLayouts/slideLayout1.xml"/><Relationship Id="rId17"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04800"/>
            <a:ext cx="36728400" cy="1737360"/>
          </a:xfrm>
          <a:prstGeom prst="rect">
            <a:avLst/>
          </a:prstGeom>
          <a:noFill/>
          <a:ln/>
        </p:spPr>
        <p:txBody>
          <a:bodyPr wrap="square" lIns="0" tIns="0" rIns="0" bIns="0" rtlCol="0" anchor="t"/>
          <a:lstStyle/>
          <a:p>
            <a:pPr indent="0" marL="0">
              <a:lnSpc>
                <a:spcPct val="92000"/>
              </a:lnSpc>
              <a:buNone/>
            </a:pPr>
            <a:r>
              <a:rPr lang="en-US" sz="6400" b="1" dirty="0">
                <a:solidFill>
                  <a:srgbClr val="1F2A44"/>
                </a:solidFill>
                <a:latin typeface="Arial" pitchFamily="34" charset="0"/>
                <a:ea typeface="Arial" pitchFamily="34" charset="-122"/>
                <a:cs typeface="Arial" pitchFamily="34" charset="-120"/>
              </a:rPr>
              <a:t>African and Indigenous American ancestry shape plasma CNS biomarker baselines within and across populations, modifying Alzheimer’s disease trajectories</a:t>
            </a:r>
            <a:endParaRPr lang="en-US" sz="6400" dirty="0"/>
          </a:p>
        </p:txBody>
      </p:sp>
      <p:sp>
        <p:nvSpPr>
          <p:cNvPr id="3" name="Text 1"/>
          <p:cNvSpPr txBox="1"/>
          <p:nvPr/>
        </p:nvSpPr>
        <p:spPr>
          <a:xfrm>
            <a:off x="457200" y="2072640"/>
            <a:ext cx="36728400" cy="914400"/>
          </a:xfrm>
          <a:prstGeom prst="rect">
            <a:avLst/>
          </a:prstGeom>
          <a:noFill/>
          <a:ln/>
        </p:spPr>
        <p:txBody>
          <a:bodyPr wrap="square" lIns="0" tIns="0" rIns="0" bIns="0" rtlCol="0" anchor="t"/>
          <a:lstStyle/>
          <a:p>
            <a:pPr indent="0" marL="0">
              <a:buNone/>
            </a:pPr>
            <a:r>
              <a:rPr lang="en-US" sz="2133" b="1" dirty="0">
                <a:solidFill>
                  <a:srgbClr val="1A1A1A"/>
                </a:solidFill>
                <a:latin typeface="Arial" pitchFamily="34" charset="0"/>
                <a:ea typeface="Arial" pitchFamily="34" charset="-122"/>
                <a:cs typeface="Arial" pitchFamily="34" charset="-120"/>
              </a:rPr>
              <a:t>Eden R. Martin</a:t>
            </a:r>
            <a:pPr indent="0" marL="0">
              <a:buNone/>
            </a:pPr>
            <a:r>
              <a:rPr lang="en-US" sz="2133" baseline="30000" dirty="0">
                <a:solidFill>
                  <a:srgbClr val="1A1A1A"/>
                </a:solidFill>
                <a:latin typeface="Arial" pitchFamily="34" charset="0"/>
                <a:ea typeface="Arial" pitchFamily="34" charset="-122"/>
                <a:cs typeface="Arial" pitchFamily="34" charset="-120"/>
              </a:rPr>
              <a:t>1</a:t>
            </a:r>
            <a:pPr indent="0" marL="0">
              <a:buNone/>
            </a:pPr>
            <a:r>
              <a:rPr lang="en-US" sz="2133" dirty="0">
                <a:solidFill>
                  <a:srgbClr val="1A1A1A"/>
                </a:solidFill>
                <a:latin typeface="Arial" pitchFamily="34" charset="0"/>
                <a:ea typeface="Arial" pitchFamily="34" charset="-122"/>
                <a:cs typeface="Arial" pitchFamily="34" charset="-120"/>
              </a:rPr>
              <a:t>, Tianjie Gu</a:t>
            </a:r>
            <a:pPr indent="0" marL="0">
              <a:buNone/>
            </a:pPr>
            <a:r>
              <a:rPr lang="en-US" sz="2133" baseline="30000" dirty="0">
                <a:solidFill>
                  <a:srgbClr val="1A1A1A"/>
                </a:solidFill>
                <a:latin typeface="Arial" pitchFamily="34" charset="0"/>
                <a:ea typeface="Arial" pitchFamily="34" charset="-122"/>
                <a:cs typeface="Arial" pitchFamily="34" charset="-120"/>
              </a:rPr>
              <a:t>1</a:t>
            </a:r>
            <a:pPr indent="0" marL="0">
              <a:buNone/>
            </a:pPr>
            <a:r>
              <a:rPr lang="en-US" sz="2133" dirty="0">
                <a:solidFill>
                  <a:srgbClr val="1A1A1A"/>
                </a:solidFill>
                <a:latin typeface="Arial" pitchFamily="34" charset="0"/>
                <a:ea typeface="Arial" pitchFamily="34" charset="-122"/>
                <a:cs typeface="Arial" pitchFamily="34" charset="-120"/>
              </a:rPr>
              <a:t>, Olabode Omotoso</a:t>
            </a:r>
            <a:pPr indent="0" marL="0">
              <a:buNone/>
            </a:pPr>
            <a:r>
              <a:rPr lang="en-US" sz="2133" baseline="30000" dirty="0">
                <a:solidFill>
                  <a:srgbClr val="1A1A1A"/>
                </a:solidFill>
                <a:latin typeface="Arial" pitchFamily="34" charset="0"/>
                <a:ea typeface="Arial" pitchFamily="34" charset="-122"/>
                <a:cs typeface="Arial" pitchFamily="34" charset="-120"/>
              </a:rPr>
              <a:t>2</a:t>
            </a:r>
            <a:pPr indent="0" marL="0">
              <a:buNone/>
            </a:pPr>
            <a:r>
              <a:rPr lang="en-US" sz="2133" dirty="0">
                <a:solidFill>
                  <a:srgbClr val="1A1A1A"/>
                </a:solidFill>
                <a:latin typeface="Arial" pitchFamily="34" charset="0"/>
                <a:ea typeface="Arial" pitchFamily="34" charset="-122"/>
                <a:cs typeface="Arial" pitchFamily="34" charset="-120"/>
              </a:rPr>
              <a:t>, Lissette Gomez</a:t>
            </a:r>
            <a:pPr indent="0" marL="0">
              <a:buNone/>
            </a:pPr>
            <a:r>
              <a:rPr lang="en-US" sz="2133" baseline="30000" dirty="0">
                <a:solidFill>
                  <a:srgbClr val="1A1A1A"/>
                </a:solidFill>
                <a:latin typeface="Arial" pitchFamily="34" charset="0"/>
                <a:ea typeface="Arial" pitchFamily="34" charset="-122"/>
                <a:cs typeface="Arial" pitchFamily="34" charset="-120"/>
              </a:rPr>
              <a:t>1</a:t>
            </a:r>
            <a:pPr indent="0" marL="0">
              <a:buNone/>
            </a:pPr>
            <a:r>
              <a:rPr lang="en-US" sz="2133" dirty="0">
                <a:solidFill>
                  <a:srgbClr val="1A1A1A"/>
                </a:solidFill>
                <a:latin typeface="Arial" pitchFamily="34" charset="0"/>
                <a:ea typeface="Arial" pitchFamily="34" charset="-122"/>
                <a:cs typeface="Arial" pitchFamily="34" charset="-120"/>
              </a:rPr>
              <a:t>, Maryanella Illanes-Manrique</a:t>
            </a:r>
            <a:pPr indent="0" marL="0">
              <a:buNone/>
            </a:pPr>
            <a:r>
              <a:rPr lang="en-US" sz="2133" baseline="30000" dirty="0">
                <a:solidFill>
                  <a:srgbClr val="1A1A1A"/>
                </a:solidFill>
                <a:latin typeface="Arial" pitchFamily="34" charset="0"/>
                <a:ea typeface="Arial" pitchFamily="34" charset="-122"/>
                <a:cs typeface="Arial" pitchFamily="34" charset="-120"/>
              </a:rPr>
              <a:t>3</a:t>
            </a:r>
            <a:pPr indent="0" marL="0">
              <a:buNone/>
            </a:pPr>
            <a:r>
              <a:rPr lang="en-US" sz="2133" dirty="0">
                <a:solidFill>
                  <a:srgbClr val="1A1A1A"/>
                </a:solidFill>
                <a:latin typeface="Arial" pitchFamily="34" charset="0"/>
                <a:ea typeface="Arial" pitchFamily="34" charset="-122"/>
                <a:cs typeface="Arial" pitchFamily="34" charset="-120"/>
              </a:rPr>
              <a:t>, Kazeem Sanjo Akinwande</a:t>
            </a:r>
            <a:pPr indent="0" marL="0">
              <a:buNone/>
            </a:pPr>
            <a:r>
              <a:rPr lang="en-US" sz="2133" baseline="30000" dirty="0">
                <a:solidFill>
                  <a:srgbClr val="1A1A1A"/>
                </a:solidFill>
                <a:latin typeface="Arial" pitchFamily="34" charset="0"/>
                <a:ea typeface="Arial" pitchFamily="34" charset="-122"/>
                <a:cs typeface="Arial" pitchFamily="34" charset="-120"/>
              </a:rPr>
              <a:t>4</a:t>
            </a:r>
            <a:pPr indent="0" marL="0">
              <a:buNone/>
            </a:pPr>
            <a:r>
              <a:rPr lang="en-US" sz="2133" dirty="0">
                <a:solidFill>
                  <a:srgbClr val="1A1A1A"/>
                </a:solidFill>
                <a:latin typeface="Arial" pitchFamily="34" charset="0"/>
                <a:ea typeface="Arial" pitchFamily="34" charset="-122"/>
                <a:cs typeface="Arial" pitchFamily="34" charset="-120"/>
              </a:rPr>
              <a:t>, Patrice Whitehead</a:t>
            </a:r>
            <a:pPr indent="0" marL="0">
              <a:buNone/>
            </a:pPr>
            <a:r>
              <a:rPr lang="en-US" sz="2133" baseline="30000" dirty="0">
                <a:solidFill>
                  <a:srgbClr val="1A1A1A"/>
                </a:solidFill>
                <a:latin typeface="Arial" pitchFamily="34" charset="0"/>
                <a:ea typeface="Arial" pitchFamily="34" charset="-122"/>
                <a:cs typeface="Arial" pitchFamily="34" charset="-120"/>
              </a:rPr>
              <a:t>1</a:t>
            </a:r>
            <a:pPr indent="0" marL="0">
              <a:buNone/>
            </a:pPr>
            <a:r>
              <a:rPr lang="en-US" sz="2133" dirty="0">
                <a:solidFill>
                  <a:srgbClr val="1A1A1A"/>
                </a:solidFill>
                <a:latin typeface="Arial" pitchFamily="34" charset="0"/>
                <a:ea typeface="Arial" pitchFamily="34" charset="-122"/>
                <a:cs typeface="Arial" pitchFamily="34" charset="-120"/>
              </a:rPr>
              <a:t>, Michael Cuccaro</a:t>
            </a:r>
            <a:pPr indent="0" marL="0">
              <a:buNone/>
            </a:pPr>
            <a:r>
              <a:rPr lang="en-US" sz="2133" baseline="30000" dirty="0">
                <a:solidFill>
                  <a:srgbClr val="1A1A1A"/>
                </a:solidFill>
                <a:latin typeface="Arial" pitchFamily="34" charset="0"/>
                <a:ea typeface="Arial" pitchFamily="34" charset="-122"/>
                <a:cs typeface="Arial" pitchFamily="34" charset="-120"/>
              </a:rPr>
              <a:t>1</a:t>
            </a:r>
            <a:pPr indent="0" marL="0">
              <a:buNone/>
            </a:pPr>
            <a:r>
              <a:rPr lang="en-US" sz="2133" dirty="0">
                <a:solidFill>
                  <a:srgbClr val="1A1A1A"/>
                </a:solidFill>
                <a:latin typeface="Arial" pitchFamily="34" charset="0"/>
                <a:ea typeface="Arial" pitchFamily="34" charset="-122"/>
                <a:cs typeface="Arial" pitchFamily="34" charset="-120"/>
              </a:rPr>
              <a:t>, Alfred Kongnyu Njamnshi</a:t>
            </a:r>
            <a:pPr indent="0" marL="0">
              <a:buNone/>
            </a:pPr>
            <a:r>
              <a:rPr lang="en-US" sz="2133" baseline="30000" dirty="0">
                <a:solidFill>
                  <a:srgbClr val="1A1A1A"/>
                </a:solidFill>
                <a:latin typeface="Arial" pitchFamily="34" charset="0"/>
                <a:ea typeface="Arial" pitchFamily="34" charset="-122"/>
                <a:cs typeface="Arial" pitchFamily="34" charset="-120"/>
              </a:rPr>
              <a:t>5</a:t>
            </a:r>
            <a:pPr indent="0" marL="0">
              <a:buNone/>
            </a:pPr>
            <a:r>
              <a:rPr lang="en-US" sz="2133" dirty="0">
                <a:solidFill>
                  <a:srgbClr val="1A1A1A"/>
                </a:solidFill>
                <a:latin typeface="Arial" pitchFamily="34" charset="0"/>
                <a:ea typeface="Arial" pitchFamily="34" charset="-122"/>
                <a:cs typeface="Arial" pitchFamily="34" charset="-120"/>
              </a:rPr>
              <a:t>, Njideka Okubadejo</a:t>
            </a:r>
            <a:pPr indent="0" marL="0">
              <a:buNone/>
            </a:pPr>
            <a:r>
              <a:rPr lang="en-US" sz="2133" baseline="30000" dirty="0">
                <a:solidFill>
                  <a:srgbClr val="1A1A1A"/>
                </a:solidFill>
                <a:latin typeface="Arial" pitchFamily="34" charset="0"/>
                <a:ea typeface="Arial" pitchFamily="34" charset="-122"/>
                <a:cs typeface="Arial" pitchFamily="34" charset="-120"/>
              </a:rPr>
              <a:t>6</a:t>
            </a:r>
            <a:pPr indent="0" marL="0">
              <a:buNone/>
            </a:pPr>
            <a:r>
              <a:rPr lang="en-US" sz="2133" dirty="0">
                <a:solidFill>
                  <a:srgbClr val="1A1A1A"/>
                </a:solidFill>
                <a:latin typeface="Arial" pitchFamily="34" charset="0"/>
                <a:ea typeface="Arial" pitchFamily="34" charset="-122"/>
                <a:cs typeface="Arial" pitchFamily="34" charset="-120"/>
              </a:rPr>
              <a:t>, Jean Ikanga</a:t>
            </a:r>
            <a:pPr indent="0" marL="0">
              <a:buNone/>
            </a:pPr>
            <a:r>
              <a:rPr lang="en-US" sz="2133" baseline="30000" dirty="0">
                <a:solidFill>
                  <a:srgbClr val="1A1A1A"/>
                </a:solidFill>
                <a:latin typeface="Arial" pitchFamily="34" charset="0"/>
                <a:ea typeface="Arial" pitchFamily="34" charset="-122"/>
                <a:cs typeface="Arial" pitchFamily="34" charset="-120"/>
              </a:rPr>
              <a:t>7</a:t>
            </a:r>
            <a:pPr indent="0" marL="0">
              <a:buNone/>
            </a:pPr>
            <a:r>
              <a:rPr lang="en-US" sz="2133" dirty="0">
                <a:solidFill>
                  <a:srgbClr val="1A1A1A"/>
                </a:solidFill>
                <a:latin typeface="Arial" pitchFamily="34" charset="0"/>
                <a:ea typeface="Arial" pitchFamily="34" charset="-122"/>
                <a:cs typeface="Arial" pitchFamily="34" charset="-120"/>
              </a:rPr>
              <a:t>, Damas Andrea</a:t>
            </a:r>
            <a:pPr indent="0" marL="0">
              <a:buNone/>
            </a:pPr>
            <a:r>
              <a:rPr lang="en-US" sz="2133" baseline="30000" dirty="0">
                <a:solidFill>
                  <a:srgbClr val="1A1A1A"/>
                </a:solidFill>
                <a:latin typeface="Arial" pitchFamily="34" charset="0"/>
                <a:ea typeface="Arial" pitchFamily="34" charset="-122"/>
                <a:cs typeface="Arial" pitchFamily="34" charset="-120"/>
              </a:rPr>
              <a:t>8</a:t>
            </a:r>
            <a:pPr indent="0" marL="0">
              <a:buNone/>
            </a:pPr>
            <a:r>
              <a:rPr lang="en-US" sz="2133" dirty="0">
                <a:solidFill>
                  <a:srgbClr val="1A1A1A"/>
                </a:solidFill>
                <a:latin typeface="Arial" pitchFamily="34" charset="0"/>
                <a:ea typeface="Arial" pitchFamily="34" charset="-122"/>
                <a:cs typeface="Arial" pitchFamily="34" charset="-120"/>
              </a:rPr>
              <a:t>, Michelle Nichols</a:t>
            </a:r>
            <a:pPr indent="0" marL="0">
              <a:buNone/>
            </a:pPr>
            <a:r>
              <a:rPr lang="en-US" sz="2133" baseline="30000" dirty="0">
                <a:solidFill>
                  <a:srgbClr val="1A1A1A"/>
                </a:solidFill>
                <a:latin typeface="Arial" pitchFamily="34" charset="0"/>
                <a:ea typeface="Arial" pitchFamily="34" charset="-122"/>
                <a:cs typeface="Arial" pitchFamily="34" charset="-120"/>
              </a:rPr>
              <a:t>9</a:t>
            </a:r>
            <a:pPr indent="0" marL="0">
              <a:buNone/>
            </a:pPr>
            <a:r>
              <a:rPr lang="en-US" sz="2133" dirty="0">
                <a:solidFill>
                  <a:srgbClr val="1A1A1A"/>
                </a:solidFill>
                <a:latin typeface="Arial" pitchFamily="34" charset="0"/>
                <a:ea typeface="Arial" pitchFamily="34" charset="-122"/>
                <a:cs typeface="Arial" pitchFamily="34" charset="-120"/>
              </a:rPr>
              <a:t>, Olusegun Baiyewu</a:t>
            </a:r>
            <a:pPr indent="0" marL="0">
              <a:buNone/>
            </a:pPr>
            <a:r>
              <a:rPr lang="en-US" sz="2133" baseline="30000" dirty="0">
                <a:solidFill>
                  <a:srgbClr val="1A1A1A"/>
                </a:solidFill>
                <a:latin typeface="Arial" pitchFamily="34" charset="0"/>
                <a:ea typeface="Arial" pitchFamily="34" charset="-122"/>
                <a:cs typeface="Arial" pitchFamily="34" charset="-120"/>
              </a:rPr>
              <a:t>4</a:t>
            </a:r>
            <a:pPr indent="0" marL="0">
              <a:buNone/>
            </a:pPr>
            <a:r>
              <a:rPr lang="en-US" sz="2133" dirty="0">
                <a:solidFill>
                  <a:srgbClr val="1A1A1A"/>
                </a:solidFill>
                <a:latin typeface="Arial" pitchFamily="34" charset="0"/>
                <a:ea typeface="Arial" pitchFamily="34" charset="-122"/>
                <a:cs typeface="Arial" pitchFamily="34" charset="-120"/>
              </a:rPr>
              <a:t>, Mayowa Owolabi</a:t>
            </a:r>
            <a:pPr indent="0" marL="0">
              <a:buNone/>
            </a:pPr>
            <a:r>
              <a:rPr lang="en-US" sz="2133" baseline="30000" dirty="0">
                <a:solidFill>
                  <a:srgbClr val="1A1A1A"/>
                </a:solidFill>
                <a:latin typeface="Arial" pitchFamily="34" charset="0"/>
                <a:ea typeface="Arial" pitchFamily="34" charset="-122"/>
                <a:cs typeface="Arial" pitchFamily="34" charset="-120"/>
              </a:rPr>
              <a:t>10</a:t>
            </a:r>
            <a:pPr indent="0" marL="0">
              <a:buNone/>
            </a:pPr>
            <a:r>
              <a:rPr lang="en-US" sz="2133" dirty="0">
                <a:solidFill>
                  <a:srgbClr val="1A1A1A"/>
                </a:solidFill>
                <a:latin typeface="Arial" pitchFamily="34" charset="0"/>
                <a:ea typeface="Arial" pitchFamily="34" charset="-122"/>
                <a:cs typeface="Arial" pitchFamily="34" charset="-120"/>
              </a:rPr>
              <a:t>, Rajesh Kalaria</a:t>
            </a:r>
            <a:pPr indent="0" marL="0">
              <a:buNone/>
            </a:pPr>
            <a:r>
              <a:rPr lang="en-US" sz="2133" baseline="30000" dirty="0">
                <a:solidFill>
                  <a:srgbClr val="1A1A1A"/>
                </a:solidFill>
                <a:latin typeface="Arial" pitchFamily="34" charset="0"/>
                <a:ea typeface="Arial" pitchFamily="34" charset="-122"/>
                <a:cs typeface="Arial" pitchFamily="34" charset="-120"/>
              </a:rPr>
              <a:t>11</a:t>
            </a:r>
            <a:pPr indent="0" marL="0">
              <a:buNone/>
            </a:pPr>
            <a:r>
              <a:rPr lang="en-US" sz="2133" dirty="0">
                <a:solidFill>
                  <a:srgbClr val="1A1A1A"/>
                </a:solidFill>
                <a:latin typeface="Arial" pitchFamily="34" charset="0"/>
                <a:ea typeface="Arial" pitchFamily="34" charset="-122"/>
                <a:cs typeface="Arial" pitchFamily="34" charset="-120"/>
              </a:rPr>
              <a:t>, Brian Kunkle</a:t>
            </a:r>
            <a:pPr indent="0" marL="0">
              <a:buNone/>
            </a:pPr>
            <a:r>
              <a:rPr lang="en-US" sz="2133" baseline="30000" dirty="0">
                <a:solidFill>
                  <a:srgbClr val="1A1A1A"/>
                </a:solidFill>
                <a:latin typeface="Arial" pitchFamily="34" charset="0"/>
                <a:ea typeface="Arial" pitchFamily="34" charset="-122"/>
                <a:cs typeface="Arial" pitchFamily="34" charset="-120"/>
              </a:rPr>
              <a:t>1</a:t>
            </a:r>
            <a:pPr indent="0" marL="0">
              <a:buNone/>
            </a:pPr>
            <a:r>
              <a:rPr lang="en-US" sz="2133" dirty="0">
                <a:solidFill>
                  <a:srgbClr val="1A1A1A"/>
                </a:solidFill>
                <a:latin typeface="Arial" pitchFamily="34" charset="0"/>
                <a:ea typeface="Arial" pitchFamily="34" charset="-122"/>
                <a:cs typeface="Arial" pitchFamily="34" charset="-120"/>
              </a:rPr>
              <a:t>, Jeffery Vance</a:t>
            </a:r>
            <a:pPr indent="0" marL="0">
              <a:buNone/>
            </a:pPr>
            <a:r>
              <a:rPr lang="en-US" sz="2133" baseline="30000" dirty="0">
                <a:solidFill>
                  <a:srgbClr val="1A1A1A"/>
                </a:solidFill>
                <a:latin typeface="Arial" pitchFamily="34" charset="0"/>
                <a:ea typeface="Arial" pitchFamily="34" charset="-122"/>
                <a:cs typeface="Arial" pitchFamily="34" charset="-120"/>
              </a:rPr>
              <a:t>1</a:t>
            </a:r>
            <a:pPr indent="0" marL="0">
              <a:buNone/>
            </a:pPr>
            <a:r>
              <a:rPr lang="en-US" sz="2133" dirty="0">
                <a:solidFill>
                  <a:srgbClr val="1A1A1A"/>
                </a:solidFill>
                <a:latin typeface="Arial" pitchFamily="34" charset="0"/>
                <a:ea typeface="Arial" pitchFamily="34" charset="-122"/>
                <a:cs typeface="Arial" pitchFamily="34" charset="-120"/>
              </a:rPr>
              <a:t>, Christiane Reitz</a:t>
            </a:r>
            <a:pPr indent="0" marL="0">
              <a:buNone/>
            </a:pPr>
            <a:r>
              <a:rPr lang="en-US" sz="2133" baseline="30000" dirty="0">
                <a:solidFill>
                  <a:srgbClr val="1A1A1A"/>
                </a:solidFill>
                <a:latin typeface="Arial" pitchFamily="34" charset="0"/>
                <a:ea typeface="Arial" pitchFamily="34" charset="-122"/>
                <a:cs typeface="Arial" pitchFamily="34" charset="-120"/>
              </a:rPr>
              <a:t>12</a:t>
            </a:r>
            <a:pPr indent="0" marL="0">
              <a:buNone/>
            </a:pPr>
            <a:r>
              <a:rPr lang="en-US" sz="2133" dirty="0">
                <a:solidFill>
                  <a:srgbClr val="1A1A1A"/>
                </a:solidFill>
                <a:latin typeface="Arial" pitchFamily="34" charset="0"/>
                <a:ea typeface="Arial" pitchFamily="34" charset="-122"/>
                <a:cs typeface="Arial" pitchFamily="34" charset="-120"/>
              </a:rPr>
              <a:t>, Giuseppe Tosto</a:t>
            </a:r>
            <a:pPr indent="0" marL="0">
              <a:buNone/>
            </a:pPr>
            <a:r>
              <a:rPr lang="en-US" sz="2133" baseline="30000" dirty="0">
                <a:solidFill>
                  <a:srgbClr val="1A1A1A"/>
                </a:solidFill>
                <a:latin typeface="Arial" pitchFamily="34" charset="0"/>
                <a:ea typeface="Arial" pitchFamily="34" charset="-122"/>
                <a:cs typeface="Arial" pitchFamily="34" charset="-120"/>
              </a:rPr>
              <a:t>12</a:t>
            </a:r>
            <a:pPr indent="0" marL="0">
              <a:buNone/>
            </a:pPr>
            <a:r>
              <a:rPr lang="en-US" sz="2133" dirty="0">
                <a:solidFill>
                  <a:srgbClr val="1A1A1A"/>
                </a:solidFill>
                <a:latin typeface="Arial" pitchFamily="34" charset="0"/>
                <a:ea typeface="Arial" pitchFamily="34" charset="-122"/>
                <a:cs typeface="Arial" pitchFamily="34" charset="-120"/>
              </a:rPr>
              <a:t>, William Bush</a:t>
            </a:r>
            <a:pPr indent="0" marL="0">
              <a:buNone/>
            </a:pPr>
            <a:r>
              <a:rPr lang="en-US" sz="2133" baseline="30000" dirty="0">
                <a:solidFill>
                  <a:srgbClr val="1A1A1A"/>
                </a:solidFill>
                <a:latin typeface="Arial" pitchFamily="34" charset="0"/>
                <a:ea typeface="Arial" pitchFamily="34" charset="-122"/>
                <a:cs typeface="Arial" pitchFamily="34" charset="-120"/>
              </a:rPr>
              <a:t>13</a:t>
            </a:r>
            <a:pPr indent="0" marL="0">
              <a:buNone/>
            </a:pPr>
            <a:r>
              <a:rPr lang="en-US" sz="2133" dirty="0">
                <a:solidFill>
                  <a:srgbClr val="1A1A1A"/>
                </a:solidFill>
                <a:latin typeface="Arial" pitchFamily="34" charset="0"/>
                <a:ea typeface="Arial" pitchFamily="34" charset="-122"/>
                <a:cs typeface="Arial" pitchFamily="34" charset="-120"/>
              </a:rPr>
              <a:t>, Jonathan Haines</a:t>
            </a:r>
            <a:pPr indent="0" marL="0">
              <a:buNone/>
            </a:pPr>
            <a:r>
              <a:rPr lang="en-US" sz="2133" baseline="30000" dirty="0">
                <a:solidFill>
                  <a:srgbClr val="1A1A1A"/>
                </a:solidFill>
                <a:latin typeface="Arial" pitchFamily="34" charset="0"/>
                <a:ea typeface="Arial" pitchFamily="34" charset="-122"/>
                <a:cs typeface="Arial" pitchFamily="34" charset="-120"/>
              </a:rPr>
              <a:t>13</a:t>
            </a:r>
            <a:pPr indent="0" marL="0">
              <a:buNone/>
            </a:pPr>
            <a:r>
              <a:rPr lang="en-US" sz="2133" dirty="0">
                <a:solidFill>
                  <a:srgbClr val="1A1A1A"/>
                </a:solidFill>
                <a:latin typeface="Arial" pitchFamily="34" charset="0"/>
                <a:ea typeface="Arial" pitchFamily="34" charset="-122"/>
                <a:cs typeface="Arial" pitchFamily="34" charset="-120"/>
              </a:rPr>
              <a:t>, Adesola Ogunniyi</a:t>
            </a:r>
            <a:pPr indent="0" marL="0">
              <a:buNone/>
            </a:pPr>
            <a:r>
              <a:rPr lang="en-US" sz="2133" baseline="30000" dirty="0">
                <a:solidFill>
                  <a:srgbClr val="1A1A1A"/>
                </a:solidFill>
                <a:latin typeface="Arial" pitchFamily="34" charset="0"/>
                <a:ea typeface="Arial" pitchFamily="34" charset="-122"/>
                <a:cs typeface="Arial" pitchFamily="34" charset="-120"/>
              </a:rPr>
              <a:t>4</a:t>
            </a:r>
            <a:pPr indent="0" marL="0">
              <a:buNone/>
            </a:pPr>
            <a:r>
              <a:rPr lang="en-US" sz="2133" dirty="0">
                <a:solidFill>
                  <a:srgbClr val="1A1A1A"/>
                </a:solidFill>
                <a:latin typeface="Arial" pitchFamily="34" charset="0"/>
                <a:ea typeface="Arial" pitchFamily="34" charset="-122"/>
                <a:cs typeface="Arial" pitchFamily="34" charset="-120"/>
              </a:rPr>
              <a:t>, Goldie Byrd</a:t>
            </a:r>
            <a:pPr indent="0" marL="0">
              <a:buNone/>
            </a:pPr>
            <a:r>
              <a:rPr lang="en-US" sz="2133" baseline="30000" dirty="0">
                <a:solidFill>
                  <a:srgbClr val="1A1A1A"/>
                </a:solidFill>
                <a:latin typeface="Arial" pitchFamily="34" charset="0"/>
                <a:ea typeface="Arial" pitchFamily="34" charset="-122"/>
                <a:cs typeface="Arial" pitchFamily="34" charset="-120"/>
              </a:rPr>
              <a:t>14</a:t>
            </a:r>
            <a:pPr indent="0" marL="0">
              <a:buNone/>
            </a:pPr>
            <a:r>
              <a:rPr lang="en-US" sz="2133" dirty="0">
                <a:solidFill>
                  <a:srgbClr val="1A1A1A"/>
                </a:solidFill>
                <a:latin typeface="Arial" pitchFamily="34" charset="0"/>
                <a:ea typeface="Arial" pitchFamily="34" charset="-122"/>
                <a:cs typeface="Arial" pitchFamily="34" charset="-120"/>
              </a:rPr>
              <a:t>, Farid Rajabli</a:t>
            </a:r>
            <a:pPr indent="0" marL="0">
              <a:buNone/>
            </a:pPr>
            <a:r>
              <a:rPr lang="en-US" sz="2133" baseline="30000" dirty="0">
                <a:solidFill>
                  <a:srgbClr val="1A1A1A"/>
                </a:solidFill>
                <a:latin typeface="Arial" pitchFamily="34" charset="0"/>
                <a:ea typeface="Arial" pitchFamily="34" charset="-122"/>
                <a:cs typeface="Arial" pitchFamily="34" charset="-120"/>
              </a:rPr>
              <a:t>1</a:t>
            </a:r>
            <a:pPr indent="0" marL="0">
              <a:buNone/>
            </a:pPr>
            <a:r>
              <a:rPr lang="en-US" sz="2133" dirty="0">
                <a:solidFill>
                  <a:srgbClr val="1A1A1A"/>
                </a:solidFill>
                <a:latin typeface="Arial" pitchFamily="34" charset="0"/>
                <a:ea typeface="Arial" pitchFamily="34" charset="-122"/>
                <a:cs typeface="Arial" pitchFamily="34" charset="-120"/>
              </a:rPr>
              <a:t>, Rufus Akinyemi</a:t>
            </a:r>
            <a:pPr indent="0" marL="0">
              <a:buNone/>
            </a:pPr>
            <a:r>
              <a:rPr lang="en-US" sz="2133" baseline="30000" dirty="0">
                <a:solidFill>
                  <a:srgbClr val="1A1A1A"/>
                </a:solidFill>
                <a:latin typeface="Arial" pitchFamily="34" charset="0"/>
                <a:ea typeface="Arial" pitchFamily="34" charset="-122"/>
                <a:cs typeface="Arial" pitchFamily="34" charset="-120"/>
              </a:rPr>
              <a:t>4</a:t>
            </a:r>
            <a:pPr indent="0" marL="0">
              <a:buNone/>
            </a:pPr>
            <a:r>
              <a:rPr lang="en-US" sz="2133" dirty="0">
                <a:solidFill>
                  <a:srgbClr val="1A1A1A"/>
                </a:solidFill>
                <a:latin typeface="Arial" pitchFamily="34" charset="0"/>
                <a:ea typeface="Arial" pitchFamily="34" charset="-122"/>
                <a:cs typeface="Arial" pitchFamily="34" charset="-120"/>
              </a:rPr>
              <a:t>, Mario Cornejo-Olivas</a:t>
            </a:r>
            <a:pPr indent="0" marL="0">
              <a:buNone/>
            </a:pPr>
            <a:r>
              <a:rPr lang="en-US" sz="2133" baseline="30000" dirty="0">
                <a:solidFill>
                  <a:srgbClr val="1A1A1A"/>
                </a:solidFill>
                <a:latin typeface="Arial" pitchFamily="34" charset="0"/>
                <a:ea typeface="Arial" pitchFamily="34" charset="-122"/>
                <a:cs typeface="Arial" pitchFamily="34" charset="-120"/>
              </a:rPr>
              <a:t>3</a:t>
            </a:r>
            <a:pPr indent="0" marL="0">
              <a:buNone/>
            </a:pPr>
            <a:r>
              <a:rPr lang="en-US" sz="2133" dirty="0">
                <a:solidFill>
                  <a:srgbClr val="1A1A1A"/>
                </a:solidFill>
                <a:latin typeface="Arial" pitchFamily="34" charset="0"/>
                <a:ea typeface="Arial" pitchFamily="34" charset="-122"/>
                <a:cs typeface="Arial" pitchFamily="34" charset="-120"/>
              </a:rPr>
              <a:t>, Margaret A. Pericak-Vance</a:t>
            </a:r>
            <a:pPr indent="0" marL="0">
              <a:buNone/>
            </a:pPr>
            <a:r>
              <a:rPr lang="en-US" sz="2133" baseline="30000" dirty="0">
                <a:solidFill>
                  <a:srgbClr val="1A1A1A"/>
                </a:solidFill>
                <a:latin typeface="Arial" pitchFamily="34" charset="0"/>
                <a:ea typeface="Arial" pitchFamily="34" charset="-122"/>
                <a:cs typeface="Arial" pitchFamily="34" charset="-120"/>
              </a:rPr>
              <a:t>1</a:t>
            </a:r>
            <a:pPr indent="0" marL="0">
              <a:buNone/>
            </a:pPr>
            <a:r>
              <a:rPr lang="en-US" sz="2133" dirty="0">
                <a:solidFill>
                  <a:srgbClr val="1A1A1A"/>
                </a:solidFill>
                <a:latin typeface="Arial" pitchFamily="34" charset="0"/>
                <a:ea typeface="Arial" pitchFamily="34" charset="-122"/>
                <a:cs typeface="Arial" pitchFamily="34" charset="-120"/>
              </a:rPr>
              <a:t>, Anthony Griswold</a:t>
            </a:r>
            <a:pPr indent="0" marL="0">
              <a:buNone/>
            </a:pPr>
            <a:r>
              <a:rPr lang="en-US" sz="2133" baseline="30000" dirty="0">
                <a:solidFill>
                  <a:srgbClr val="1A1A1A"/>
                </a:solidFill>
                <a:latin typeface="Arial" pitchFamily="34" charset="0"/>
                <a:ea typeface="Arial" pitchFamily="34" charset="-122"/>
                <a:cs typeface="Arial" pitchFamily="34" charset="-120"/>
              </a:rPr>
              <a:t>1</a:t>
            </a:r>
            <a:endParaRPr lang="en-US" sz="2133" dirty="0"/>
          </a:p>
        </p:txBody>
      </p:sp>
      <p:sp>
        <p:nvSpPr>
          <p:cNvPr id="4" name="Text 2"/>
          <p:cNvSpPr txBox="1"/>
          <p:nvPr/>
        </p:nvSpPr>
        <p:spPr>
          <a:xfrm>
            <a:off x="457200" y="2987040"/>
            <a:ext cx="36728400" cy="579120"/>
          </a:xfrm>
          <a:prstGeom prst="rect">
            <a:avLst/>
          </a:prstGeom>
          <a:noFill/>
          <a:ln/>
        </p:spPr>
        <p:txBody>
          <a:bodyPr wrap="square" lIns="0" tIns="0" rIns="0" bIns="0" rtlCol="0" anchor="t"/>
          <a:lstStyle/>
          <a:p>
            <a:pPr indent="0" marL="0">
              <a:buNone/>
            </a:pPr>
            <a:r>
              <a:rPr lang="en-US" sz="1333" baseline="30000" dirty="0">
                <a:solidFill>
                  <a:srgbClr val="4A4A4A"/>
                </a:solidFill>
                <a:latin typeface="Arial" pitchFamily="34" charset="0"/>
                <a:ea typeface="Arial" pitchFamily="34" charset="-122"/>
                <a:cs typeface="Arial" pitchFamily="34" charset="-120"/>
              </a:rPr>
              <a:t>1</a:t>
            </a:r>
            <a:pPr indent="0" marL="0">
              <a:buNone/>
            </a:pPr>
            <a:r>
              <a:rPr lang="en-US" sz="1333" dirty="0">
                <a:solidFill>
                  <a:srgbClr val="4A4A4A"/>
                </a:solidFill>
                <a:latin typeface="Arial" pitchFamily="34" charset="0"/>
                <a:ea typeface="Arial" pitchFamily="34" charset="-122"/>
                <a:cs typeface="Arial" pitchFamily="34" charset="-120"/>
              </a:rPr>
              <a:t> Hussman Institute for Human Genomics, University of Miami, Miami, FL, USA; </a:t>
            </a:r>
            <a:pPr indent="0" marL="0">
              <a:buNone/>
            </a:pPr>
            <a:r>
              <a:rPr lang="en-US" sz="1333" baseline="30000" dirty="0">
                <a:solidFill>
                  <a:srgbClr val="4A4A4A"/>
                </a:solidFill>
                <a:latin typeface="Arial" pitchFamily="34" charset="0"/>
                <a:ea typeface="Arial" pitchFamily="34" charset="-122"/>
                <a:cs typeface="Arial" pitchFamily="34" charset="-120"/>
              </a:rPr>
              <a:t>2</a:t>
            </a:r>
            <a:pPr indent="0" marL="0">
              <a:buNone/>
            </a:pPr>
            <a:r>
              <a:rPr lang="en-US" sz="1333" dirty="0">
                <a:solidFill>
                  <a:srgbClr val="4A4A4A"/>
                </a:solidFill>
                <a:latin typeface="Arial" pitchFamily="34" charset="0"/>
                <a:ea typeface="Arial" pitchFamily="34" charset="-122"/>
                <a:cs typeface="Arial" pitchFamily="34" charset="-120"/>
              </a:rPr>
              <a:t> Neurology, University of Ibadan, Nigeria; </a:t>
            </a:r>
            <a:pPr indent="0" marL="0">
              <a:buNone/>
            </a:pPr>
            <a:r>
              <a:rPr lang="en-US" sz="1333" baseline="30000" dirty="0">
                <a:solidFill>
                  <a:srgbClr val="4A4A4A"/>
                </a:solidFill>
                <a:latin typeface="Arial" pitchFamily="34" charset="0"/>
                <a:ea typeface="Arial" pitchFamily="34" charset="-122"/>
                <a:cs typeface="Arial" pitchFamily="34" charset="-120"/>
              </a:rPr>
              <a:t>3</a:t>
            </a:r>
            <a:pPr indent="0" marL="0">
              <a:buNone/>
            </a:pPr>
            <a:r>
              <a:rPr lang="en-US" sz="1333" dirty="0">
                <a:solidFill>
                  <a:srgbClr val="4A4A4A"/>
                </a:solidFill>
                <a:latin typeface="Arial" pitchFamily="34" charset="0"/>
                <a:ea typeface="Arial" pitchFamily="34" charset="-122"/>
                <a:cs typeface="Arial" pitchFamily="34" charset="-120"/>
              </a:rPr>
              <a:t> Instituto Nacional de Ciencias Neurológicas, Lima, Peru; </a:t>
            </a:r>
            <a:pPr indent="0" marL="0">
              <a:buNone/>
            </a:pPr>
            <a:r>
              <a:rPr lang="en-US" sz="1333" baseline="30000" dirty="0">
                <a:solidFill>
                  <a:srgbClr val="4A4A4A"/>
                </a:solidFill>
                <a:latin typeface="Arial" pitchFamily="34" charset="0"/>
                <a:ea typeface="Arial" pitchFamily="34" charset="-122"/>
                <a:cs typeface="Arial" pitchFamily="34" charset="-120"/>
              </a:rPr>
              <a:t>4</a:t>
            </a:r>
            <a:pPr indent="0" marL="0">
              <a:buNone/>
            </a:pPr>
            <a:r>
              <a:rPr lang="en-US" sz="1333" dirty="0">
                <a:solidFill>
                  <a:srgbClr val="4A4A4A"/>
                </a:solidFill>
                <a:latin typeface="Arial" pitchFamily="34" charset="0"/>
                <a:ea typeface="Arial" pitchFamily="34" charset="-122"/>
                <a:cs typeface="Arial" pitchFamily="34" charset="-120"/>
              </a:rPr>
              <a:t> Institute for Advanced Medical Research and Training, University of Ibadan, Nigeria; </a:t>
            </a:r>
            <a:pPr indent="0" marL="0">
              <a:buNone/>
            </a:pPr>
            <a:r>
              <a:rPr lang="en-US" sz="1333" baseline="30000" dirty="0">
                <a:solidFill>
                  <a:srgbClr val="4A4A4A"/>
                </a:solidFill>
                <a:latin typeface="Arial" pitchFamily="34" charset="0"/>
                <a:ea typeface="Arial" pitchFamily="34" charset="-122"/>
                <a:cs typeface="Arial" pitchFamily="34" charset="-120"/>
              </a:rPr>
              <a:t>5</a:t>
            </a:r>
            <a:pPr indent="0" marL="0">
              <a:buNone/>
            </a:pPr>
            <a:r>
              <a:rPr lang="en-US" sz="1333" dirty="0">
                <a:solidFill>
                  <a:srgbClr val="4A4A4A"/>
                </a:solidFill>
                <a:latin typeface="Arial" pitchFamily="34" charset="0"/>
                <a:ea typeface="Arial" pitchFamily="34" charset="-122"/>
                <a:cs typeface="Arial" pitchFamily="34" charset="-120"/>
              </a:rPr>
              <a:t> Brain Research Africa Initiative, Yaoundé, Cameroon; </a:t>
            </a:r>
            <a:pPr indent="0" marL="0">
              <a:buNone/>
            </a:pPr>
            <a:r>
              <a:rPr lang="en-US" sz="1333" baseline="30000" dirty="0">
                <a:solidFill>
                  <a:srgbClr val="4A4A4A"/>
                </a:solidFill>
                <a:latin typeface="Arial" pitchFamily="34" charset="0"/>
                <a:ea typeface="Arial" pitchFamily="34" charset="-122"/>
                <a:cs typeface="Arial" pitchFamily="34" charset="-120"/>
              </a:rPr>
              <a:t>6</a:t>
            </a:r>
            <a:pPr indent="0" marL="0">
              <a:buNone/>
            </a:pPr>
            <a:r>
              <a:rPr lang="en-US" sz="1333" dirty="0">
                <a:solidFill>
                  <a:srgbClr val="4A4A4A"/>
                </a:solidFill>
                <a:latin typeface="Arial" pitchFamily="34" charset="0"/>
                <a:ea typeface="Arial" pitchFamily="34" charset="-122"/>
                <a:cs typeface="Arial" pitchFamily="34" charset="-120"/>
              </a:rPr>
              <a:t> Medicine, University of Lagos, Nigeria; </a:t>
            </a:r>
            <a:pPr indent="0" marL="0">
              <a:buNone/>
            </a:pPr>
            <a:r>
              <a:rPr lang="en-US" sz="1333" baseline="30000" dirty="0">
                <a:solidFill>
                  <a:srgbClr val="4A4A4A"/>
                </a:solidFill>
                <a:latin typeface="Arial" pitchFamily="34" charset="0"/>
                <a:ea typeface="Arial" pitchFamily="34" charset="-122"/>
                <a:cs typeface="Arial" pitchFamily="34" charset="-120"/>
              </a:rPr>
              <a:t>7</a:t>
            </a:r>
            <a:pPr indent="0" marL="0">
              <a:buNone/>
            </a:pPr>
            <a:r>
              <a:rPr lang="en-US" sz="1333" dirty="0">
                <a:solidFill>
                  <a:srgbClr val="4A4A4A"/>
                </a:solidFill>
                <a:latin typeface="Arial" pitchFamily="34" charset="0"/>
                <a:ea typeface="Arial" pitchFamily="34" charset="-122"/>
                <a:cs typeface="Arial" pitchFamily="34" charset="-120"/>
              </a:rPr>
              <a:t> Psychiatry, University of Kinshasa, DRC; </a:t>
            </a:r>
            <a:pPr indent="0" marL="0">
              <a:buNone/>
            </a:pPr>
            <a:r>
              <a:rPr lang="en-US" sz="1333" baseline="30000" dirty="0">
                <a:solidFill>
                  <a:srgbClr val="4A4A4A"/>
                </a:solidFill>
                <a:latin typeface="Arial" pitchFamily="34" charset="0"/>
                <a:ea typeface="Arial" pitchFamily="34" charset="-122"/>
                <a:cs typeface="Arial" pitchFamily="34" charset="-120"/>
              </a:rPr>
              <a:t>8</a:t>
            </a:r>
            <a:pPr indent="0" marL="0">
              <a:buNone/>
            </a:pPr>
            <a:r>
              <a:rPr lang="en-US" sz="1333" dirty="0">
                <a:solidFill>
                  <a:srgbClr val="4A4A4A"/>
                </a:solidFill>
                <a:latin typeface="Arial" pitchFamily="34" charset="0"/>
                <a:ea typeface="Arial" pitchFamily="34" charset="-122"/>
                <a:cs typeface="Arial" pitchFamily="34" charset="-120"/>
              </a:rPr>
              <a:t> Psychiatry, Mirembe National Mental Hospital, Dodoma, Tanzania; </a:t>
            </a:r>
            <a:pPr indent="0" marL="0">
              <a:buNone/>
            </a:pPr>
            <a:r>
              <a:rPr lang="en-US" sz="1333" baseline="30000" dirty="0">
                <a:solidFill>
                  <a:srgbClr val="4A4A4A"/>
                </a:solidFill>
                <a:latin typeface="Arial" pitchFamily="34" charset="0"/>
                <a:ea typeface="Arial" pitchFamily="34" charset="-122"/>
                <a:cs typeface="Arial" pitchFamily="34" charset="-120"/>
              </a:rPr>
              <a:t>9</a:t>
            </a:r>
            <a:pPr indent="0" marL="0">
              <a:buNone/>
            </a:pPr>
            <a:r>
              <a:rPr lang="en-US" sz="1333" dirty="0">
                <a:solidFill>
                  <a:srgbClr val="4A4A4A"/>
                </a:solidFill>
                <a:latin typeface="Arial" pitchFamily="34" charset="0"/>
                <a:ea typeface="Arial" pitchFamily="34" charset="-122"/>
                <a:cs typeface="Arial" pitchFamily="34" charset="-120"/>
              </a:rPr>
              <a:t> Health Sciences and Rehabilitation, Medical University of South Carolina, Charleston, SC, USA; </a:t>
            </a:r>
            <a:pPr indent="0" marL="0">
              <a:buNone/>
            </a:pPr>
            <a:r>
              <a:rPr lang="en-US" sz="1333" baseline="30000" dirty="0">
                <a:solidFill>
                  <a:srgbClr val="4A4A4A"/>
                </a:solidFill>
                <a:latin typeface="Arial" pitchFamily="34" charset="0"/>
                <a:ea typeface="Arial" pitchFamily="34" charset="-122"/>
                <a:cs typeface="Arial" pitchFamily="34" charset="-120"/>
              </a:rPr>
              <a:t>10</a:t>
            </a:r>
            <a:pPr indent="0" marL="0">
              <a:buNone/>
            </a:pPr>
            <a:r>
              <a:rPr lang="en-US" sz="1333" dirty="0">
                <a:solidFill>
                  <a:srgbClr val="4A4A4A"/>
                </a:solidFill>
                <a:latin typeface="Arial" pitchFamily="34" charset="0"/>
                <a:ea typeface="Arial" pitchFamily="34" charset="-122"/>
                <a:cs typeface="Arial" pitchFamily="34" charset="-120"/>
              </a:rPr>
              <a:t> Translational and Clinical Research Institute, University of Ibadan, Nigeria; </a:t>
            </a:r>
            <a:pPr indent="0" marL="0">
              <a:buNone/>
            </a:pPr>
            <a:r>
              <a:rPr lang="en-US" sz="1333" baseline="30000" dirty="0">
                <a:solidFill>
                  <a:srgbClr val="4A4A4A"/>
                </a:solidFill>
                <a:latin typeface="Arial" pitchFamily="34" charset="0"/>
                <a:ea typeface="Arial" pitchFamily="34" charset="-122"/>
                <a:cs typeface="Arial" pitchFamily="34" charset="-120"/>
              </a:rPr>
              <a:t>11</a:t>
            </a:r>
            <a:pPr indent="0" marL="0">
              <a:buNone/>
            </a:pPr>
            <a:r>
              <a:rPr lang="en-US" sz="1333" dirty="0">
                <a:solidFill>
                  <a:srgbClr val="4A4A4A"/>
                </a:solidFill>
                <a:latin typeface="Arial" pitchFamily="34" charset="0"/>
                <a:ea typeface="Arial" pitchFamily="34" charset="-122"/>
                <a:cs typeface="Arial" pitchFamily="34" charset="-120"/>
              </a:rPr>
              <a:t> Translational and Clinical Research Institute, Newcastle University, UK; </a:t>
            </a:r>
            <a:pPr indent="0" marL="0">
              <a:buNone/>
            </a:pPr>
            <a:r>
              <a:rPr lang="en-US" sz="1333" baseline="30000" dirty="0">
                <a:solidFill>
                  <a:srgbClr val="4A4A4A"/>
                </a:solidFill>
                <a:latin typeface="Arial" pitchFamily="34" charset="0"/>
                <a:ea typeface="Arial" pitchFamily="34" charset="-122"/>
                <a:cs typeface="Arial" pitchFamily="34" charset="-120"/>
              </a:rPr>
              <a:t>12</a:t>
            </a:r>
            <a:pPr indent="0" marL="0">
              <a:buNone/>
            </a:pPr>
            <a:r>
              <a:rPr lang="en-US" sz="1333" dirty="0">
                <a:solidFill>
                  <a:srgbClr val="4A4A4A"/>
                </a:solidFill>
                <a:latin typeface="Arial" pitchFamily="34" charset="0"/>
                <a:ea typeface="Arial" pitchFamily="34" charset="-122"/>
                <a:cs typeface="Arial" pitchFamily="34" charset="-120"/>
              </a:rPr>
              <a:t> Vagelos College of Physicians and Surgeons, Columbia University, New York, NY, USA; </a:t>
            </a:r>
            <a:pPr indent="0" marL="0">
              <a:buNone/>
            </a:pPr>
            <a:r>
              <a:rPr lang="en-US" sz="1333" baseline="30000" dirty="0">
                <a:solidFill>
                  <a:srgbClr val="4A4A4A"/>
                </a:solidFill>
                <a:latin typeface="Arial" pitchFamily="34" charset="0"/>
                <a:ea typeface="Arial" pitchFamily="34" charset="-122"/>
                <a:cs typeface="Arial" pitchFamily="34" charset="-120"/>
              </a:rPr>
              <a:t>13</a:t>
            </a:r>
            <a:pPr indent="0" marL="0">
              <a:buNone/>
            </a:pPr>
            <a:r>
              <a:rPr lang="en-US" sz="1333" dirty="0">
                <a:solidFill>
                  <a:srgbClr val="4A4A4A"/>
                </a:solidFill>
                <a:latin typeface="Arial" pitchFamily="34" charset="0"/>
                <a:ea typeface="Arial" pitchFamily="34" charset="-122"/>
                <a:cs typeface="Arial" pitchFamily="34" charset="-120"/>
              </a:rPr>
              <a:t> Population and Quantitative Health Sciences, Case Western Reserve University, Cleveland, OH, USA; </a:t>
            </a:r>
            <a:pPr indent="0" marL="0">
              <a:buNone/>
            </a:pPr>
            <a:r>
              <a:rPr lang="en-US" sz="1333" baseline="30000" dirty="0">
                <a:solidFill>
                  <a:srgbClr val="4A4A4A"/>
                </a:solidFill>
                <a:latin typeface="Arial" pitchFamily="34" charset="0"/>
                <a:ea typeface="Arial" pitchFamily="34" charset="-122"/>
                <a:cs typeface="Arial" pitchFamily="34" charset="-120"/>
              </a:rPr>
              <a:t>14</a:t>
            </a:r>
            <a:pPr indent="0" marL="0">
              <a:buNone/>
            </a:pPr>
            <a:r>
              <a:rPr lang="en-US" sz="1333" dirty="0">
                <a:solidFill>
                  <a:srgbClr val="4A4A4A"/>
                </a:solidFill>
                <a:latin typeface="Arial" pitchFamily="34" charset="0"/>
                <a:ea typeface="Arial" pitchFamily="34" charset="-122"/>
                <a:cs typeface="Arial" pitchFamily="34" charset="-120"/>
              </a:rPr>
              <a:t> Biostatistics and Data Science, Wake Forest School of Medicine, Winston-Salem, NC, USA</a:t>
            </a:r>
            <a:endParaRPr lang="en-US" sz="1333" dirty="0"/>
          </a:p>
        </p:txBody>
      </p:sp>
      <p:sp>
        <p:nvSpPr>
          <p:cNvPr id="5" name="DAWN chip"/>
          <p:cNvSpPr/>
          <p:nvPr/>
        </p:nvSpPr>
        <p:spPr>
          <a:xfrm>
            <a:off x="37551360" y="304800"/>
            <a:ext cx="1645920" cy="518160"/>
          </a:xfrm>
          <a:prstGeom prst="rect">
            <a:avLst/>
          </a:prstGeom>
          <a:solidFill>
            <a:srgbClr val="1F2A44"/>
          </a:solidFill>
          <a:ln w="12700">
            <a:solidFill>
              <a:srgbClr val="1F2A44"/>
            </a:solidFill>
            <a:prstDash val="solid"/>
          </a:ln>
        </p:spPr>
      </p:sp>
      <p:pic>
        <p:nvPicPr>
          <p:cNvPr id="6" name="logo dawn_white" descr="DAWN study">    </p:cNvPr>
          <p:cNvPicPr>
            <a:picLocks noChangeAspect="1"/>
          </p:cNvPicPr>
          <p:nvPr/>
        </p:nvPicPr>
        <p:blipFill>
          <a:blip r:embed="rId1"/>
          <a:stretch>
            <a:fillRect/>
          </a:stretch>
        </p:blipFill>
        <p:spPr>
          <a:xfrm>
            <a:off x="37722048" y="381000"/>
            <a:ext cx="1305251" cy="365760"/>
          </a:xfrm>
          <a:prstGeom prst="rect">
            <a:avLst/>
          </a:prstGeom>
        </p:spPr>
      </p:pic>
      <p:pic>
        <p:nvPicPr>
          <p:cNvPr id="7" name="logo nih" descr="National Institutes of Health">    </p:cNvPr>
          <p:cNvPicPr>
            <a:picLocks noChangeAspect="1"/>
          </p:cNvPicPr>
          <p:nvPr/>
        </p:nvPicPr>
        <p:blipFill>
          <a:blip r:embed="rId2"/>
          <a:stretch>
            <a:fillRect/>
          </a:stretch>
        </p:blipFill>
        <p:spPr>
          <a:xfrm>
            <a:off x="39441120" y="320040"/>
            <a:ext cx="770534" cy="487680"/>
          </a:xfrm>
          <a:prstGeom prst="rect">
            <a:avLst/>
          </a:prstGeom>
        </p:spPr>
      </p:pic>
      <p:pic>
        <p:nvPicPr>
          <p:cNvPr id="8" name="logo afdc" descr="African Dementia Consortium">    </p:cNvPr>
          <p:cNvPicPr>
            <a:picLocks noChangeAspect="1"/>
          </p:cNvPicPr>
          <p:nvPr/>
        </p:nvPicPr>
        <p:blipFill>
          <a:blip r:embed="rId3"/>
          <a:stretch>
            <a:fillRect/>
          </a:stretch>
        </p:blipFill>
        <p:spPr>
          <a:xfrm>
            <a:off x="40455494" y="374904"/>
            <a:ext cx="1052137" cy="377952"/>
          </a:xfrm>
          <a:prstGeom prst="rect">
            <a:avLst/>
          </a:prstGeom>
        </p:spPr>
      </p:pic>
      <p:pic>
        <p:nvPicPr>
          <p:cNvPr id="9" name="logo hihg" descr="University of Miami Miller School of Medicine, Hussman Institute for Human Genomics">    </p:cNvPr>
          <p:cNvPicPr>
            <a:picLocks noChangeAspect="1"/>
          </p:cNvPicPr>
          <p:nvPr/>
        </p:nvPicPr>
        <p:blipFill>
          <a:blip r:embed="rId4"/>
          <a:stretch>
            <a:fillRect/>
          </a:stretch>
        </p:blipFill>
        <p:spPr>
          <a:xfrm>
            <a:off x="41751471" y="320040"/>
            <a:ext cx="1627819" cy="487680"/>
          </a:xfrm>
          <a:prstGeom prst="rect">
            <a:avLst/>
          </a:prstGeom>
        </p:spPr>
      </p:pic>
      <p:pic>
        <p:nvPicPr>
          <p:cNvPr id="10" name="logo case_western" descr="Case Western Reserve University">    </p:cNvPr>
          <p:cNvPicPr>
            <a:picLocks noChangeAspect="1"/>
          </p:cNvPicPr>
          <p:nvPr/>
        </p:nvPicPr>
        <p:blipFill>
          <a:blip r:embed="rId5"/>
          <a:stretch>
            <a:fillRect/>
          </a:stretch>
        </p:blipFill>
        <p:spPr>
          <a:xfrm>
            <a:off x="37551360" y="1021080"/>
            <a:ext cx="1910687" cy="182880"/>
          </a:xfrm>
          <a:prstGeom prst="rect">
            <a:avLst/>
          </a:prstGeom>
        </p:spPr>
      </p:pic>
      <p:pic>
        <p:nvPicPr>
          <p:cNvPr id="11" name="logo wake_forest" descr="Wake Forest University">    </p:cNvPr>
          <p:cNvPicPr>
            <a:picLocks noChangeAspect="1"/>
          </p:cNvPicPr>
          <p:nvPr/>
        </p:nvPicPr>
        <p:blipFill>
          <a:blip r:embed="rId6"/>
          <a:stretch>
            <a:fillRect/>
          </a:stretch>
        </p:blipFill>
        <p:spPr>
          <a:xfrm>
            <a:off x="39644927" y="972312"/>
            <a:ext cx="1422400" cy="280416"/>
          </a:xfrm>
          <a:prstGeom prst="rect">
            <a:avLst/>
          </a:prstGeom>
        </p:spPr>
      </p:pic>
      <p:pic>
        <p:nvPicPr>
          <p:cNvPr id="12" name="logo columbia" descr="Columbia University">    </p:cNvPr>
          <p:cNvPicPr>
            <a:picLocks noChangeAspect="1"/>
          </p:cNvPicPr>
          <p:nvPr/>
        </p:nvPicPr>
        <p:blipFill>
          <a:blip r:embed="rId7"/>
          <a:stretch>
            <a:fillRect/>
          </a:stretch>
        </p:blipFill>
        <p:spPr>
          <a:xfrm>
            <a:off x="41250207" y="990600"/>
            <a:ext cx="1642132" cy="243840"/>
          </a:xfrm>
          <a:prstGeom prst="rect">
            <a:avLst/>
          </a:prstGeom>
        </p:spPr>
      </p:pic>
      <p:pic>
        <p:nvPicPr>
          <p:cNvPr id="13" name="logo uccshield" descr="Universidad Central del Caribe, Puerto Rico">    </p:cNvPr>
          <p:cNvPicPr>
            <a:picLocks noChangeAspect="1"/>
          </p:cNvPicPr>
          <p:nvPr/>
        </p:nvPicPr>
        <p:blipFill>
          <a:blip r:embed="rId8"/>
          <a:stretch>
            <a:fillRect/>
          </a:stretch>
        </p:blipFill>
        <p:spPr>
          <a:xfrm>
            <a:off x="43075218" y="944880"/>
            <a:ext cx="336965" cy="335280"/>
          </a:xfrm>
          <a:prstGeom prst="rect">
            <a:avLst/>
          </a:prstGeom>
        </p:spPr>
      </p:pic>
      <p:sp>
        <p:nvSpPr>
          <p:cNvPr id="14" name="Text 4"/>
          <p:cNvSpPr txBox="1"/>
          <p:nvPr/>
        </p:nvSpPr>
        <p:spPr>
          <a:xfrm>
            <a:off x="37551360" y="1402080"/>
            <a:ext cx="5882640" cy="274320"/>
          </a:xfrm>
          <a:prstGeom prst="rect">
            <a:avLst/>
          </a:prstGeom>
          <a:noFill/>
          <a:ln/>
        </p:spPr>
        <p:txBody>
          <a:bodyPr wrap="square" lIns="0" tIns="0" rIns="0" bIns="0" rtlCol="0" anchor="t"/>
          <a:lstStyle/>
          <a:p>
            <a:pPr algn="ctr" indent="0" marL="0">
              <a:buNone/>
            </a:pPr>
            <a:r>
              <a:rPr lang="en-US" sz="1600" b="1" dirty="0">
                <a:solidFill>
                  <a:srgbClr val="1F2A44"/>
                </a:solidFill>
                <a:latin typeface="Arial" pitchFamily="34" charset="0"/>
                <a:ea typeface="Arial" pitchFamily="34" charset="-122"/>
                <a:cs typeface="Arial" pitchFamily="34" charset="-120"/>
              </a:rPr>
              <a:t>Board 1003W</a:t>
            </a:r>
            <a:pPr algn="ctr" indent="0" marL="0">
              <a:buNone/>
            </a:pPr>
            <a:r>
              <a:rPr lang="en-US" sz="1600" dirty="0">
                <a:solidFill>
                  <a:srgbClr val="1A1A1A"/>
                </a:solidFill>
                <a:latin typeface="Arial" pitchFamily="34" charset="0"/>
                <a:ea typeface="Arial" pitchFamily="34" charset="-122"/>
                <a:cs typeface="Arial" pitchFamily="34" charset="-120"/>
              </a:rPr>
              <a:t>  ·  emartin1@miami.edu</a:t>
            </a:r>
            <a:endParaRPr lang="en-US" sz="1600" dirty="0"/>
          </a:p>
        </p:txBody>
      </p:sp>
      <p:sp>
        <p:nvSpPr>
          <p:cNvPr id="15" name="answer band"/>
          <p:cNvSpPr/>
          <p:nvPr/>
        </p:nvSpPr>
        <p:spPr>
          <a:xfrm>
            <a:off x="457200" y="3596640"/>
            <a:ext cx="42976800" cy="2164080"/>
          </a:xfrm>
          <a:prstGeom prst="rect">
            <a:avLst/>
          </a:prstGeom>
          <a:solidFill>
            <a:srgbClr val="1F2A44"/>
          </a:solidFill>
          <a:ln w="12700">
            <a:solidFill>
              <a:srgbClr val="1F2A44"/>
            </a:solidFill>
            <a:prstDash val="solid"/>
          </a:ln>
        </p:spPr>
      </p:sp>
      <p:sp>
        <p:nvSpPr>
          <p:cNvPr id="16" name="Text 6"/>
          <p:cNvSpPr txBox="1"/>
          <p:nvPr/>
        </p:nvSpPr>
        <p:spPr>
          <a:xfrm>
            <a:off x="731520" y="3779520"/>
            <a:ext cx="10017760" cy="1798320"/>
          </a:xfrm>
          <a:prstGeom prst="rect">
            <a:avLst/>
          </a:prstGeom>
          <a:noFill/>
          <a:ln/>
        </p:spPr>
        <p:txBody>
          <a:bodyPr wrap="square" lIns="0" tIns="0" rIns="0" bIns="0" rtlCol="0" anchor="ctr"/>
          <a:lstStyle/>
          <a:p>
            <a:pPr indent="0" marL="0">
              <a:spcAft>
                <a:spcPts val="667"/>
              </a:spcAft>
              <a:buNone/>
            </a:pPr>
            <a:r>
              <a:rPr lang="en-US" sz="1733" b="1" spc="200" kern="0" dirty="0">
                <a:solidFill>
                  <a:srgbClr val="D9DEEA"/>
                </a:solidFill>
                <a:latin typeface="Arial" pitchFamily="34" charset="0"/>
                <a:ea typeface="Arial" pitchFamily="34" charset="-122"/>
                <a:cs typeface="Arial" pitchFamily="34" charset="-120"/>
              </a:rPr>
              <a:t>THE QUESTION</a:t>
            </a:r>
            <a:endParaRPr lang="en-US" sz="1733" dirty="0"/>
          </a:p>
          <a:p>
            <a:pPr indent="0" marL="0">
              <a:buNone/>
            </a:pPr>
            <a:r>
              <a:rPr lang="en-US" sz="2267" dirty="0">
                <a:solidFill>
                  <a:srgbClr val="FFFFFF"/>
                </a:solidFill>
                <a:latin typeface="Arial" pitchFamily="34" charset="0"/>
                <a:ea typeface="Arial" pitchFamily="34" charset="-122"/>
                <a:cs typeface="Arial" pitchFamily="34" charset="-120"/>
              </a:rPr>
              <a:t>A biomarker reads differently in two populations: disease, ancestry, or recruitment site? Does it change the test?</a:t>
            </a:r>
            <a:endParaRPr lang="en-US" sz="1733" dirty="0"/>
          </a:p>
        </p:txBody>
      </p:sp>
      <p:sp>
        <p:nvSpPr>
          <p:cNvPr id="17" name="Shape 7"/>
          <p:cNvSpPr/>
          <p:nvPr/>
        </p:nvSpPr>
        <p:spPr>
          <a:xfrm>
            <a:off x="11023600" y="3810000"/>
            <a:ext cx="0" cy="1737360"/>
          </a:xfrm>
          <a:prstGeom prst="line">
            <a:avLst/>
          </a:prstGeom>
          <a:noFill/>
          <a:ln w="16933">
            <a:solidFill>
              <a:srgbClr val="D9DEEA"/>
            </a:solidFill>
            <a:prstDash val="solid"/>
          </a:ln>
        </p:spPr>
      </p:sp>
      <p:sp>
        <p:nvSpPr>
          <p:cNvPr id="18" name="Text 8"/>
          <p:cNvSpPr txBox="1"/>
          <p:nvPr/>
        </p:nvSpPr>
        <p:spPr>
          <a:xfrm>
            <a:off x="11328400" y="3779520"/>
            <a:ext cx="6096000" cy="274320"/>
          </a:xfrm>
          <a:prstGeom prst="rect">
            <a:avLst/>
          </a:prstGeom>
          <a:noFill/>
          <a:ln/>
        </p:spPr>
        <p:txBody>
          <a:bodyPr wrap="square" lIns="0" tIns="0" rIns="0" bIns="0" rtlCol="0" anchor="t"/>
          <a:lstStyle/>
          <a:p>
            <a:pPr indent="0" marL="0">
              <a:buNone/>
            </a:pPr>
            <a:r>
              <a:rPr lang="en-US" sz="1733" b="1" spc="200" kern="0" dirty="0">
                <a:solidFill>
                  <a:srgbClr val="D9DEEA"/>
                </a:solidFill>
                <a:latin typeface="Arial" pitchFamily="34" charset="0"/>
                <a:ea typeface="Arial" pitchFamily="34" charset="-122"/>
                <a:cs typeface="Arial" pitchFamily="34" charset="-120"/>
              </a:rPr>
              <a:t>THE ANSWER</a:t>
            </a:r>
            <a:endParaRPr lang="en-US" sz="1733" dirty="0"/>
          </a:p>
        </p:txBody>
      </p:sp>
      <p:sp>
        <p:nvSpPr>
          <p:cNvPr id="19" name="Text 9"/>
          <p:cNvSpPr txBox="1"/>
          <p:nvPr/>
        </p:nvSpPr>
        <p:spPr>
          <a:xfrm>
            <a:off x="11328400" y="4114800"/>
            <a:ext cx="10363200" cy="1493520"/>
          </a:xfrm>
          <a:prstGeom prst="rect">
            <a:avLst/>
          </a:prstGeom>
          <a:noFill/>
          <a:ln/>
        </p:spPr>
        <p:txBody>
          <a:bodyPr wrap="square" lIns="0" tIns="0" rIns="0" bIns="0" rtlCol="0" anchor="t"/>
          <a:lstStyle/>
          <a:p>
            <a:pPr indent="0" marL="0">
              <a:spcAft>
                <a:spcPts val="533"/>
              </a:spcAft>
              <a:buNone/>
            </a:pPr>
            <a:r>
              <a:rPr lang="en-US" sz="3067" b="1" dirty="0">
                <a:solidFill>
                  <a:srgbClr val="FFFFFF"/>
                </a:solidFill>
                <a:latin typeface="Arial" pitchFamily="34" charset="0"/>
                <a:ea typeface="Arial" pitchFamily="34" charset="-122"/>
                <a:cs typeface="Arial" pitchFamily="34" charset="-120"/>
              </a:rPr>
              <a:t>Ancestry moves the baseline</a:t>
            </a:r>
            <a:endParaRPr lang="en-US" sz="3067" dirty="0"/>
          </a:p>
          <a:p>
            <a:pPr marL="220133" indent="-220133">
              <a:spcAft>
                <a:spcPts val="267"/>
              </a:spcAft>
              <a:buSzPct val="100000"/>
              <a:buChar char="•"/>
            </a:pPr>
            <a:r>
              <a:rPr lang="en-US" sz="2267" dirty="0">
                <a:solidFill>
                  <a:srgbClr val="D9DEEA"/>
                </a:solidFill>
                <a:latin typeface="Arial" pitchFamily="34" charset="0"/>
                <a:ea typeface="Arial" pitchFamily="34" charset="-122"/>
                <a:cs typeface="Arial" pitchFamily="34" charset="-120"/>
              </a:rPr>
              <a:t>62 of 126 proteins differ; African vs HI-WH 49, all the same sign in both lots</a:t>
            </a:r>
            <a:endParaRPr lang="en-US" sz="3067" dirty="0"/>
          </a:p>
          <a:p>
            <a:pPr marL="220133" indent="-220133">
              <a:spcAft>
                <a:spcPts val="267"/>
              </a:spcAft>
              <a:buSzPct val="100000"/>
              <a:buChar char="•"/>
            </a:pPr>
            <a:r>
              <a:rPr lang="en-US" sz="2267" dirty="0">
                <a:solidFill>
                  <a:srgbClr val="D9DEEA"/>
                </a:solidFill>
                <a:latin typeface="Arial" pitchFamily="34" charset="0"/>
                <a:ea typeface="Arial" pitchFamily="34" charset="-122"/>
                <a:cs typeface="Arial" pitchFamily="34" charset="-120"/>
              </a:rPr>
              <a:t>a known variant accounts for CHIT1 (78%) and part of IL6R (45%)</a:t>
            </a:r>
            <a:endParaRPr lang="en-US" sz="3067" dirty="0"/>
          </a:p>
        </p:txBody>
      </p:sp>
      <p:sp>
        <p:nvSpPr>
          <p:cNvPr id="20" name="Text 10"/>
          <p:cNvSpPr txBox="1"/>
          <p:nvPr/>
        </p:nvSpPr>
        <p:spPr>
          <a:xfrm>
            <a:off x="22199600" y="4114800"/>
            <a:ext cx="10363200" cy="1493520"/>
          </a:xfrm>
          <a:prstGeom prst="rect">
            <a:avLst/>
          </a:prstGeom>
          <a:noFill/>
          <a:ln/>
        </p:spPr>
        <p:txBody>
          <a:bodyPr wrap="square" lIns="0" tIns="0" rIns="0" bIns="0" rtlCol="0" anchor="t"/>
          <a:lstStyle/>
          <a:p>
            <a:pPr indent="0" marL="0">
              <a:spcAft>
                <a:spcPts val="533"/>
              </a:spcAft>
              <a:buNone/>
            </a:pPr>
            <a:r>
              <a:rPr lang="en-US" sz="3067" b="1" dirty="0">
                <a:solidFill>
                  <a:srgbClr val="FFFFFF"/>
                </a:solidFill>
                <a:latin typeface="Arial" pitchFamily="34" charset="0"/>
                <a:ea typeface="Arial" pitchFamily="34" charset="-122"/>
                <a:cs typeface="Arial" pitchFamily="34" charset="-120"/>
              </a:rPr>
              <a:t>Ancestry rarely moves the AD signal</a:t>
            </a:r>
            <a:endParaRPr lang="en-US" sz="3067" dirty="0"/>
          </a:p>
          <a:p>
            <a:pPr marL="220133" indent="-220133">
              <a:spcAft>
                <a:spcPts val="267"/>
              </a:spcAft>
              <a:buSzPct val="100000"/>
              <a:buChar char="•"/>
            </a:pPr>
            <a:r>
              <a:rPr lang="en-US" sz="2267" dirty="0">
                <a:solidFill>
                  <a:srgbClr val="D9DEEA"/>
                </a:solidFill>
                <a:latin typeface="Arial" pitchFamily="34" charset="0"/>
                <a:ea typeface="Arial" pitchFamily="34" charset="-122"/>
                <a:cs typeface="Arial" pitchFamily="34" charset="-120"/>
              </a:rPr>
              <a:t>p-tau rises with AD in every group, in both lots</a:t>
            </a:r>
            <a:endParaRPr lang="en-US" sz="3067" dirty="0"/>
          </a:p>
          <a:p>
            <a:pPr marL="220133" indent="-220133">
              <a:spcAft>
                <a:spcPts val="267"/>
              </a:spcAft>
              <a:buSzPct val="100000"/>
              <a:buChar char="•"/>
            </a:pPr>
            <a:r>
              <a:rPr lang="en-US" sz="2267" dirty="0">
                <a:solidFill>
                  <a:srgbClr val="D9DEEA"/>
                </a:solidFill>
                <a:latin typeface="Arial" pitchFamily="34" charset="0"/>
                <a:ea typeface="Arial" pitchFamily="34" charset="-122"/>
                <a:cs typeface="Arial" pitchFamily="34" charset="-120"/>
              </a:rPr>
              <a:t>one BD-pTau-217 cut: same share of normals above it, fewer clinical AD at most African sites</a:t>
            </a:r>
            <a:endParaRPr lang="en-US" sz="3067" dirty="0"/>
          </a:p>
        </p:txBody>
      </p:sp>
      <p:sp>
        <p:nvSpPr>
          <p:cNvPr id="21" name="Text 11"/>
          <p:cNvSpPr txBox="1"/>
          <p:nvPr/>
        </p:nvSpPr>
        <p:spPr>
          <a:xfrm>
            <a:off x="33070800" y="4114800"/>
            <a:ext cx="10363200" cy="1493520"/>
          </a:xfrm>
          <a:prstGeom prst="rect">
            <a:avLst/>
          </a:prstGeom>
          <a:noFill/>
          <a:ln/>
        </p:spPr>
        <p:txBody>
          <a:bodyPr wrap="square" lIns="0" tIns="0" rIns="0" bIns="0" rtlCol="0" anchor="t"/>
          <a:lstStyle/>
          <a:p>
            <a:pPr indent="0" marL="0">
              <a:spcAft>
                <a:spcPts val="533"/>
              </a:spcAft>
              <a:buNone/>
            </a:pPr>
            <a:r>
              <a:rPr lang="en-US" sz="3067" b="1" dirty="0">
                <a:solidFill>
                  <a:srgbClr val="FFFFFF"/>
                </a:solidFill>
                <a:latin typeface="Arial" pitchFamily="34" charset="0"/>
                <a:ea typeface="Arial" pitchFamily="34" charset="-122"/>
                <a:cs typeface="Arial" pitchFamily="34" charset="-120"/>
              </a:rPr>
              <a:t>Few regional differences survive site</a:t>
            </a:r>
            <a:endParaRPr lang="en-US" sz="3067" dirty="0"/>
          </a:p>
          <a:p>
            <a:pPr marL="220133" indent="-220133">
              <a:spcAft>
                <a:spcPts val="267"/>
              </a:spcAft>
              <a:buSzPct val="100000"/>
              <a:buChar char="•"/>
            </a:pPr>
            <a:r>
              <a:rPr lang="en-US" sz="2267" dirty="0">
                <a:solidFill>
                  <a:srgbClr val="D9DEEA"/>
                </a:solidFill>
                <a:latin typeface="Arial" pitchFamily="34" charset="0"/>
                <a:ea typeface="Arial" pitchFamily="34" charset="-122"/>
                <a:cs typeface="Arial" pitchFamily="34" charset="-120"/>
              </a:rPr>
              <a:t>Peruvian and Ecuadorian vs Caribbean 10; East vs West Africa 5</a:t>
            </a:r>
            <a:endParaRPr lang="en-US" sz="3067" dirty="0"/>
          </a:p>
          <a:p>
            <a:pPr marL="220133" indent="-220133">
              <a:spcAft>
                <a:spcPts val="267"/>
              </a:spcAft>
              <a:buSzPct val="100000"/>
              <a:buChar char="•"/>
            </a:pPr>
            <a:r>
              <a:rPr lang="en-US" sz="2267" dirty="0">
                <a:solidFill>
                  <a:srgbClr val="D9DEEA"/>
                </a:solidFill>
                <a:latin typeface="Arial" pitchFamily="34" charset="0"/>
                <a:ea typeface="Arial" pitchFamily="34" charset="-122"/>
                <a:cs typeface="Arial" pitchFamily="34" charset="-120"/>
              </a:rPr>
              <a:t>6 of the 15 immune</a:t>
            </a:r>
            <a:endParaRPr lang="en-US" sz="3067" dirty="0"/>
          </a:p>
        </p:txBody>
      </p:sp>
      <p:sp>
        <p:nvSpPr>
          <p:cNvPr id="22" name="Text 12"/>
          <p:cNvSpPr txBox="1"/>
          <p:nvPr/>
        </p:nvSpPr>
        <p:spPr>
          <a:xfrm>
            <a:off x="457200" y="5821680"/>
            <a:ext cx="10363200" cy="495300"/>
          </a:xfrm>
          <a:prstGeom prst="rect">
            <a:avLst/>
          </a:prstGeom>
          <a:noFill/>
          <a:ln/>
        </p:spPr>
        <p:txBody>
          <a:bodyPr wrap="square" lIns="0" tIns="0" rIns="0" bIns="0" rtlCol="0" anchor="t"/>
          <a:lstStyle/>
          <a:p>
            <a:pPr indent="0" marL="0">
              <a:buNone/>
            </a:pPr>
            <a:r>
              <a:rPr lang="en-US" sz="3333" b="1" dirty="0">
                <a:solidFill>
                  <a:srgbClr val="1F2A44"/>
                </a:solidFill>
                <a:latin typeface="Arial" pitchFamily="34" charset="0"/>
                <a:ea typeface="Arial" pitchFamily="34" charset="-122"/>
                <a:cs typeface="Arial" pitchFamily="34" charset="-120"/>
              </a:rPr>
              <a:t>WHO AND HOW</a:t>
            </a:r>
            <a:endParaRPr lang="en-US" sz="3333" dirty="0"/>
          </a:p>
        </p:txBody>
      </p:sp>
      <p:sp>
        <p:nvSpPr>
          <p:cNvPr id="23" name="Shape 13"/>
          <p:cNvSpPr/>
          <p:nvPr/>
        </p:nvSpPr>
        <p:spPr>
          <a:xfrm>
            <a:off x="457200" y="6365748"/>
            <a:ext cx="10363200" cy="0"/>
          </a:xfrm>
          <a:prstGeom prst="line">
            <a:avLst/>
          </a:prstGeom>
          <a:noFill/>
          <a:ln w="50800">
            <a:solidFill>
              <a:srgbClr val="1F2A44"/>
            </a:solidFill>
            <a:prstDash val="solid"/>
          </a:ln>
        </p:spPr>
      </p:sp>
      <p:sp>
        <p:nvSpPr>
          <p:cNvPr id="24" name="Text 14"/>
          <p:cNvSpPr txBox="1"/>
          <p:nvPr/>
        </p:nvSpPr>
        <p:spPr>
          <a:xfrm>
            <a:off x="457200" y="6603492"/>
            <a:ext cx="2590800" cy="609600"/>
          </a:xfrm>
          <a:prstGeom prst="rect">
            <a:avLst/>
          </a:prstGeom>
          <a:noFill/>
          <a:ln/>
        </p:spPr>
        <p:txBody>
          <a:bodyPr wrap="square" lIns="0" tIns="0" rIns="0" bIns="0" rtlCol="0" anchor="t"/>
          <a:lstStyle/>
          <a:p>
            <a:pPr indent="0" marL="0">
              <a:buNone/>
            </a:pPr>
            <a:r>
              <a:rPr lang="en-US" sz="4400" b="1" dirty="0">
                <a:solidFill>
                  <a:srgbClr val="1F2A44"/>
                </a:solidFill>
                <a:latin typeface="Arial" pitchFamily="34" charset="0"/>
                <a:ea typeface="Arial" pitchFamily="34" charset="-122"/>
                <a:cs typeface="Arial" pitchFamily="34" charset="-120"/>
              </a:rPr>
              <a:t>4,273</a:t>
            </a:r>
            <a:endParaRPr lang="en-US" sz="4400" dirty="0"/>
          </a:p>
        </p:txBody>
      </p:sp>
      <p:sp>
        <p:nvSpPr>
          <p:cNvPr id="25" name="Text 15"/>
          <p:cNvSpPr txBox="1"/>
          <p:nvPr/>
        </p:nvSpPr>
        <p:spPr>
          <a:xfrm>
            <a:off x="457200" y="7243572"/>
            <a:ext cx="2529840" cy="274320"/>
          </a:xfrm>
          <a:prstGeom prst="rect">
            <a:avLst/>
          </a:prstGeom>
          <a:noFill/>
          <a:ln/>
        </p:spPr>
        <p:txBody>
          <a:bodyPr wrap="square" lIns="0" tIns="0" rIns="0" bIns="0" rtlCol="0" anchor="t"/>
          <a:lstStyle/>
          <a:p>
            <a:pPr indent="0" marL="0">
              <a:buNone/>
            </a:pPr>
            <a:r>
              <a:rPr lang="en-US" sz="1600" dirty="0">
                <a:solidFill>
                  <a:srgbClr val="4A4A4A"/>
                </a:solidFill>
                <a:latin typeface="Arial" pitchFamily="34" charset="0"/>
                <a:ea typeface="Arial" pitchFamily="34" charset="-122"/>
                <a:cs typeface="Arial" pitchFamily="34" charset="-120"/>
              </a:rPr>
              <a:t>participants</a:t>
            </a:r>
            <a:endParaRPr lang="en-US" sz="1600" dirty="0"/>
          </a:p>
        </p:txBody>
      </p:sp>
      <p:sp>
        <p:nvSpPr>
          <p:cNvPr id="26" name="Text 16"/>
          <p:cNvSpPr txBox="1"/>
          <p:nvPr/>
        </p:nvSpPr>
        <p:spPr>
          <a:xfrm>
            <a:off x="3048000" y="6603492"/>
            <a:ext cx="2590800" cy="609600"/>
          </a:xfrm>
          <a:prstGeom prst="rect">
            <a:avLst/>
          </a:prstGeom>
          <a:noFill/>
          <a:ln/>
        </p:spPr>
        <p:txBody>
          <a:bodyPr wrap="square" lIns="0" tIns="0" rIns="0" bIns="0" rtlCol="0" anchor="t"/>
          <a:lstStyle/>
          <a:p>
            <a:pPr indent="0" marL="0">
              <a:buNone/>
            </a:pPr>
            <a:r>
              <a:rPr lang="en-US" sz="4400" b="1" dirty="0">
                <a:solidFill>
                  <a:srgbClr val="1F2A44"/>
                </a:solidFill>
                <a:latin typeface="Arial" pitchFamily="34" charset="0"/>
                <a:ea typeface="Arial" pitchFamily="34" charset="-122"/>
                <a:cs typeface="Arial" pitchFamily="34" charset="-120"/>
              </a:rPr>
              <a:t>22</a:t>
            </a:r>
            <a:endParaRPr lang="en-US" sz="4400" dirty="0"/>
          </a:p>
        </p:txBody>
      </p:sp>
      <p:sp>
        <p:nvSpPr>
          <p:cNvPr id="27" name="Text 17"/>
          <p:cNvSpPr txBox="1"/>
          <p:nvPr/>
        </p:nvSpPr>
        <p:spPr>
          <a:xfrm>
            <a:off x="3048000" y="7243572"/>
            <a:ext cx="2529840" cy="274320"/>
          </a:xfrm>
          <a:prstGeom prst="rect">
            <a:avLst/>
          </a:prstGeom>
          <a:noFill/>
          <a:ln/>
        </p:spPr>
        <p:txBody>
          <a:bodyPr wrap="square" lIns="0" tIns="0" rIns="0" bIns="0" rtlCol="0" anchor="t"/>
          <a:lstStyle/>
          <a:p>
            <a:pPr indent="0" marL="0">
              <a:buNone/>
            </a:pPr>
            <a:r>
              <a:rPr lang="en-US" sz="1600" dirty="0">
                <a:solidFill>
                  <a:srgbClr val="4A4A4A"/>
                </a:solidFill>
                <a:latin typeface="Arial" pitchFamily="34" charset="0"/>
                <a:ea typeface="Arial" pitchFamily="34" charset="-122"/>
                <a:cs typeface="Arial" pitchFamily="34" charset="-120"/>
              </a:rPr>
              <a:t>sites</a:t>
            </a:r>
            <a:endParaRPr lang="en-US" sz="1600" dirty="0"/>
          </a:p>
        </p:txBody>
      </p:sp>
      <p:sp>
        <p:nvSpPr>
          <p:cNvPr id="28" name="Text 18"/>
          <p:cNvSpPr txBox="1"/>
          <p:nvPr/>
        </p:nvSpPr>
        <p:spPr>
          <a:xfrm>
            <a:off x="5638800" y="6603492"/>
            <a:ext cx="2590800" cy="609600"/>
          </a:xfrm>
          <a:prstGeom prst="rect">
            <a:avLst/>
          </a:prstGeom>
          <a:noFill/>
          <a:ln/>
        </p:spPr>
        <p:txBody>
          <a:bodyPr wrap="square" lIns="0" tIns="0" rIns="0" bIns="0" rtlCol="0" anchor="t"/>
          <a:lstStyle/>
          <a:p>
            <a:pPr indent="0" marL="0">
              <a:buNone/>
            </a:pPr>
            <a:r>
              <a:rPr lang="en-US" sz="4400" b="1" dirty="0">
                <a:solidFill>
                  <a:srgbClr val="1F2A44"/>
                </a:solidFill>
                <a:latin typeface="Arial" pitchFamily="34" charset="0"/>
                <a:ea typeface="Arial" pitchFamily="34" charset="-122"/>
                <a:cs typeface="Arial" pitchFamily="34" charset="-120"/>
              </a:rPr>
              <a:t>50</a:t>
            </a:r>
            <a:endParaRPr lang="en-US" sz="4400" dirty="0"/>
          </a:p>
        </p:txBody>
      </p:sp>
      <p:sp>
        <p:nvSpPr>
          <p:cNvPr id="29" name="Text 19"/>
          <p:cNvSpPr txBox="1"/>
          <p:nvPr/>
        </p:nvSpPr>
        <p:spPr>
          <a:xfrm>
            <a:off x="5638800" y="7243572"/>
            <a:ext cx="2529840" cy="274320"/>
          </a:xfrm>
          <a:prstGeom prst="rect">
            <a:avLst/>
          </a:prstGeom>
          <a:noFill/>
          <a:ln/>
        </p:spPr>
        <p:txBody>
          <a:bodyPr wrap="square" lIns="0" tIns="0" rIns="0" bIns="0" rtlCol="0" anchor="t"/>
          <a:lstStyle/>
          <a:p>
            <a:pPr indent="0" marL="0">
              <a:buNone/>
            </a:pPr>
            <a:r>
              <a:rPr lang="en-US" sz="1600" dirty="0">
                <a:solidFill>
                  <a:srgbClr val="4A4A4A"/>
                </a:solidFill>
                <a:latin typeface="Arial" pitchFamily="34" charset="0"/>
                <a:ea typeface="Arial" pitchFamily="34" charset="-122"/>
                <a:cs typeface="Arial" pitchFamily="34" charset="-120"/>
              </a:rPr>
              <a:t>countries of birth</a:t>
            </a:r>
            <a:endParaRPr lang="en-US" sz="1600" dirty="0"/>
          </a:p>
        </p:txBody>
      </p:sp>
      <p:sp>
        <p:nvSpPr>
          <p:cNvPr id="30" name="Text 20"/>
          <p:cNvSpPr txBox="1"/>
          <p:nvPr/>
        </p:nvSpPr>
        <p:spPr>
          <a:xfrm>
            <a:off x="8229600" y="6603492"/>
            <a:ext cx="2590800" cy="609600"/>
          </a:xfrm>
          <a:prstGeom prst="rect">
            <a:avLst/>
          </a:prstGeom>
          <a:noFill/>
          <a:ln/>
        </p:spPr>
        <p:txBody>
          <a:bodyPr wrap="square" lIns="0" tIns="0" rIns="0" bIns="0" rtlCol="0" anchor="t"/>
          <a:lstStyle/>
          <a:p>
            <a:pPr indent="0" marL="0">
              <a:buNone/>
            </a:pPr>
            <a:r>
              <a:rPr lang="en-US" sz="4400" b="1" dirty="0">
                <a:solidFill>
                  <a:srgbClr val="1F2A44"/>
                </a:solidFill>
                <a:latin typeface="Arial" pitchFamily="34" charset="0"/>
                <a:ea typeface="Arial" pitchFamily="34" charset="-122"/>
                <a:cs typeface="Arial" pitchFamily="34" charset="-120"/>
              </a:rPr>
              <a:t>126</a:t>
            </a:r>
            <a:endParaRPr lang="en-US" sz="4400" dirty="0"/>
          </a:p>
        </p:txBody>
      </p:sp>
      <p:sp>
        <p:nvSpPr>
          <p:cNvPr id="31" name="Text 21"/>
          <p:cNvSpPr txBox="1"/>
          <p:nvPr/>
        </p:nvSpPr>
        <p:spPr>
          <a:xfrm>
            <a:off x="8229600" y="7243572"/>
            <a:ext cx="2529840" cy="274320"/>
          </a:xfrm>
          <a:prstGeom prst="rect">
            <a:avLst/>
          </a:prstGeom>
          <a:noFill/>
          <a:ln/>
        </p:spPr>
        <p:txBody>
          <a:bodyPr wrap="square" lIns="0" tIns="0" rIns="0" bIns="0" rtlCol="0" anchor="t"/>
          <a:lstStyle/>
          <a:p>
            <a:pPr indent="0" marL="0">
              <a:buNone/>
            </a:pPr>
            <a:r>
              <a:rPr lang="en-US" sz="1600" dirty="0">
                <a:solidFill>
                  <a:srgbClr val="4A4A4A"/>
                </a:solidFill>
                <a:latin typeface="Arial" pitchFamily="34" charset="0"/>
                <a:ea typeface="Arial" pitchFamily="34" charset="-122"/>
                <a:cs typeface="Arial" pitchFamily="34" charset="-120"/>
              </a:rPr>
              <a:t>plasma proteins</a:t>
            </a:r>
            <a:endParaRPr lang="en-US" sz="1600" dirty="0"/>
          </a:p>
        </p:txBody>
      </p:sp>
      <p:pic>
        <p:nvPicPr>
          <p:cNvPr id="32" name="fig1_cohort" descr="Three panels by ancestry group: participants by clinical diagnosis (616 HI-WH, 998 HI-MU, 1,669 AA, 990 African); birthplace as a percent of each group (most HI-WH and HI-MU born in the Caribbean, every African participant in Africa); participants by recruitment place, US sites by state, Peru, and African sites by country.">    </p:cNvPr>
          <p:cNvPicPr>
            <a:picLocks noChangeAspect="1"/>
          </p:cNvPicPr>
          <p:nvPr/>
        </p:nvPicPr>
        <p:blipFill>
          <a:blip r:embed="rId9"/>
          <a:stretch>
            <a:fillRect/>
          </a:stretch>
        </p:blipFill>
        <p:spPr>
          <a:xfrm>
            <a:off x="457200" y="7670292"/>
            <a:ext cx="10363200" cy="3779520"/>
          </a:xfrm>
          <a:prstGeom prst="rect">
            <a:avLst/>
          </a:prstGeom>
        </p:spPr>
      </p:pic>
      <p:sp>
        <p:nvSpPr>
          <p:cNvPr id="33" name="Text 22"/>
          <p:cNvSpPr txBox="1"/>
          <p:nvPr/>
        </p:nvSpPr>
        <p:spPr>
          <a:xfrm>
            <a:off x="457200" y="11449812"/>
            <a:ext cx="10363200" cy="318516"/>
          </a:xfrm>
          <a:prstGeom prst="rect">
            <a:avLst/>
          </a:prstGeom>
          <a:noFill/>
          <a:ln/>
        </p:spPr>
        <p:txBody>
          <a:bodyPr wrap="square" lIns="0" tIns="0" rIns="0" bIns="0" rtlCol="0" anchor="t"/>
          <a:lstStyle/>
          <a:p>
            <a:pPr indent="0" marL="0">
              <a:buNone/>
            </a:pPr>
            <a:r>
              <a:rPr lang="en-US" sz="1733" dirty="0">
                <a:solidFill>
                  <a:srgbClr val="4A4A4A"/>
                </a:solidFill>
                <a:latin typeface="Arial" pitchFamily="34" charset="0"/>
                <a:ea typeface="Arial" pitchFamily="34" charset="-122"/>
                <a:cs typeface="Arial" pitchFamily="34" charset="-120"/>
              </a:rPr>
              <a:t>female 72 / 74 / 79 / 56%; median age 73 / 71 / 71 / 72 (HI-WH / HI-MU / AA / AFR)</a:t>
            </a:r>
            <a:endParaRPr lang="en-US" sz="1733" dirty="0"/>
          </a:p>
        </p:txBody>
      </p:sp>
      <p:sp>
        <p:nvSpPr>
          <p:cNvPr id="34" name="key chip HI-WH"/>
          <p:cNvSpPr/>
          <p:nvPr/>
        </p:nvSpPr>
        <p:spPr>
          <a:xfrm>
            <a:off x="487680" y="11920728"/>
            <a:ext cx="243840" cy="243840"/>
          </a:xfrm>
          <a:prstGeom prst="rect">
            <a:avLst/>
          </a:prstGeom>
          <a:solidFill>
            <a:srgbClr val="005030"/>
          </a:solidFill>
          <a:ln w="12700">
            <a:solidFill>
              <a:srgbClr val="005030"/>
            </a:solidFill>
            <a:prstDash val="solid"/>
          </a:ln>
        </p:spPr>
      </p:sp>
      <p:sp>
        <p:nvSpPr>
          <p:cNvPr id="35" name="Text 24"/>
          <p:cNvSpPr txBox="1"/>
          <p:nvPr/>
        </p:nvSpPr>
        <p:spPr>
          <a:xfrm>
            <a:off x="883920" y="11859768"/>
            <a:ext cx="9936480" cy="316992"/>
          </a:xfrm>
          <a:prstGeom prst="rect">
            <a:avLst/>
          </a:prstGeom>
          <a:noFill/>
          <a:ln/>
        </p:spPr>
        <p:txBody>
          <a:bodyPr wrap="square" lIns="0" tIns="0" rIns="0" bIns="0" rtlCol="0" anchor="t"/>
          <a:lstStyle/>
          <a:p>
            <a:pPr indent="0" marL="0">
              <a:buNone/>
            </a:pPr>
            <a:r>
              <a:rPr lang="en-US" sz="2133" b="1" dirty="0">
                <a:solidFill>
                  <a:srgbClr val="1A1A1A"/>
                </a:solidFill>
                <a:latin typeface="Arial" pitchFamily="34" charset="0"/>
                <a:ea typeface="Arial" pitchFamily="34" charset="-122"/>
                <a:cs typeface="Arial" pitchFamily="34" charset="-120"/>
              </a:rPr>
              <a:t>HI-WH  </a:t>
            </a:r>
            <a:pPr indent="0" marL="0">
              <a:buNone/>
            </a:pPr>
            <a:r>
              <a:rPr lang="en-US" sz="2133" dirty="0">
                <a:solidFill>
                  <a:srgbClr val="1A1A1A"/>
                </a:solidFill>
                <a:latin typeface="Arial" pitchFamily="34" charset="0"/>
                <a:ea typeface="Arial" pitchFamily="34" charset="-122"/>
                <a:cs typeface="Arial" pitchFamily="34" charset="-120"/>
              </a:rPr>
              <a:t>Hispanic, European descent · 3 sites</a:t>
            </a:r>
            <a:endParaRPr lang="en-US" sz="2133" dirty="0"/>
          </a:p>
        </p:txBody>
      </p:sp>
      <p:sp>
        <p:nvSpPr>
          <p:cNvPr id="36" name="key chip HI-MU"/>
          <p:cNvSpPr/>
          <p:nvPr/>
        </p:nvSpPr>
        <p:spPr>
          <a:xfrm>
            <a:off x="487680" y="12237720"/>
            <a:ext cx="243840" cy="243840"/>
          </a:xfrm>
          <a:prstGeom prst="rect">
            <a:avLst/>
          </a:prstGeom>
          <a:solidFill>
            <a:srgbClr val="3F9E8C"/>
          </a:solidFill>
          <a:ln w="12700">
            <a:solidFill>
              <a:srgbClr val="3F9E8C"/>
            </a:solidFill>
            <a:prstDash val="solid"/>
          </a:ln>
        </p:spPr>
      </p:sp>
      <p:sp>
        <p:nvSpPr>
          <p:cNvPr id="37" name="Text 26"/>
          <p:cNvSpPr txBox="1"/>
          <p:nvPr/>
        </p:nvSpPr>
        <p:spPr>
          <a:xfrm>
            <a:off x="883920" y="12176760"/>
            <a:ext cx="9936480" cy="316992"/>
          </a:xfrm>
          <a:prstGeom prst="rect">
            <a:avLst/>
          </a:prstGeom>
          <a:noFill/>
          <a:ln/>
        </p:spPr>
        <p:txBody>
          <a:bodyPr wrap="square" lIns="0" tIns="0" rIns="0" bIns="0" rtlCol="0" anchor="t"/>
          <a:lstStyle/>
          <a:p>
            <a:pPr indent="0" marL="0">
              <a:buNone/>
            </a:pPr>
            <a:r>
              <a:rPr lang="en-US" sz="2133" b="1" dirty="0">
                <a:solidFill>
                  <a:srgbClr val="1A1A1A"/>
                </a:solidFill>
                <a:latin typeface="Arial" pitchFamily="34" charset="0"/>
                <a:ea typeface="Arial" pitchFamily="34" charset="-122"/>
                <a:cs typeface="Arial" pitchFamily="34" charset="-120"/>
              </a:rPr>
              <a:t>HI-MU  </a:t>
            </a:r>
            <a:pPr indent="0" marL="0">
              <a:buNone/>
            </a:pPr>
            <a:r>
              <a:rPr lang="en-US" sz="2133" dirty="0">
                <a:solidFill>
                  <a:srgbClr val="1A1A1A"/>
                </a:solidFill>
                <a:latin typeface="Arial" pitchFamily="34" charset="0"/>
                <a:ea typeface="Arial" pitchFamily="34" charset="-122"/>
                <a:cs typeface="Arial" pitchFamily="34" charset="-120"/>
              </a:rPr>
              <a:t>Hispanic, mixed origin · 6 sites</a:t>
            </a:r>
            <a:endParaRPr lang="en-US" sz="2133" dirty="0"/>
          </a:p>
        </p:txBody>
      </p:sp>
      <p:sp>
        <p:nvSpPr>
          <p:cNvPr id="38" name="key chip AA"/>
          <p:cNvSpPr/>
          <p:nvPr/>
        </p:nvSpPr>
        <p:spPr>
          <a:xfrm>
            <a:off x="487680" y="12554712"/>
            <a:ext cx="243840" cy="243840"/>
          </a:xfrm>
          <a:prstGeom prst="rect">
            <a:avLst/>
          </a:prstGeom>
          <a:solidFill>
            <a:srgbClr val="B04A10"/>
          </a:solidFill>
          <a:ln w="12700">
            <a:solidFill>
              <a:srgbClr val="B04A10"/>
            </a:solidFill>
            <a:prstDash val="solid"/>
          </a:ln>
        </p:spPr>
      </p:sp>
      <p:sp>
        <p:nvSpPr>
          <p:cNvPr id="39" name="Text 28"/>
          <p:cNvSpPr txBox="1"/>
          <p:nvPr/>
        </p:nvSpPr>
        <p:spPr>
          <a:xfrm>
            <a:off x="883920" y="12493752"/>
            <a:ext cx="9936480" cy="316992"/>
          </a:xfrm>
          <a:prstGeom prst="rect">
            <a:avLst/>
          </a:prstGeom>
          <a:noFill/>
          <a:ln/>
        </p:spPr>
        <p:txBody>
          <a:bodyPr wrap="square" lIns="0" tIns="0" rIns="0" bIns="0" rtlCol="0" anchor="t"/>
          <a:lstStyle/>
          <a:p>
            <a:pPr indent="0" marL="0">
              <a:buNone/>
            </a:pPr>
            <a:r>
              <a:rPr lang="en-US" sz="2133" b="1" dirty="0">
                <a:solidFill>
                  <a:srgbClr val="1A1A1A"/>
                </a:solidFill>
                <a:latin typeface="Arial" pitchFamily="34" charset="0"/>
                <a:ea typeface="Arial" pitchFamily="34" charset="-122"/>
                <a:cs typeface="Arial" pitchFamily="34" charset="-120"/>
              </a:rPr>
              <a:t>AA  </a:t>
            </a:r>
            <a:pPr indent="0" marL="0">
              <a:buNone/>
            </a:pPr>
            <a:r>
              <a:rPr lang="en-US" sz="2133" dirty="0">
                <a:solidFill>
                  <a:srgbClr val="1A1A1A"/>
                </a:solidFill>
                <a:latin typeface="Arial" pitchFamily="34" charset="0"/>
                <a:ea typeface="Arial" pitchFamily="34" charset="-122"/>
                <a:cs typeface="Arial" pitchFamily="34" charset="-120"/>
              </a:rPr>
              <a:t>African American · 6 sites</a:t>
            </a:r>
            <a:endParaRPr lang="en-US" sz="2133" dirty="0"/>
          </a:p>
        </p:txBody>
      </p:sp>
      <p:sp>
        <p:nvSpPr>
          <p:cNvPr id="40" name="key chip AFR"/>
          <p:cNvSpPr/>
          <p:nvPr/>
        </p:nvSpPr>
        <p:spPr>
          <a:xfrm>
            <a:off x="487680" y="12871704"/>
            <a:ext cx="243840" cy="243840"/>
          </a:xfrm>
          <a:prstGeom prst="rect">
            <a:avLst/>
          </a:prstGeom>
          <a:solidFill>
            <a:srgbClr val="F47321"/>
          </a:solidFill>
          <a:ln w="12700">
            <a:solidFill>
              <a:srgbClr val="F47321"/>
            </a:solidFill>
            <a:prstDash val="solid"/>
          </a:ln>
        </p:spPr>
      </p:sp>
      <p:sp>
        <p:nvSpPr>
          <p:cNvPr id="41" name="Text 30"/>
          <p:cNvSpPr txBox="1"/>
          <p:nvPr/>
        </p:nvSpPr>
        <p:spPr>
          <a:xfrm>
            <a:off x="883920" y="12810744"/>
            <a:ext cx="9936480" cy="316992"/>
          </a:xfrm>
          <a:prstGeom prst="rect">
            <a:avLst/>
          </a:prstGeom>
          <a:noFill/>
          <a:ln/>
        </p:spPr>
        <p:txBody>
          <a:bodyPr wrap="square" lIns="0" tIns="0" rIns="0" bIns="0" rtlCol="0" anchor="t"/>
          <a:lstStyle/>
          <a:p>
            <a:pPr indent="0" marL="0">
              <a:buNone/>
            </a:pPr>
            <a:r>
              <a:rPr lang="en-US" sz="2133" b="1" dirty="0">
                <a:solidFill>
                  <a:srgbClr val="1A1A1A"/>
                </a:solidFill>
                <a:latin typeface="Arial" pitchFamily="34" charset="0"/>
                <a:ea typeface="Arial" pitchFamily="34" charset="-122"/>
                <a:cs typeface="Arial" pitchFamily="34" charset="-120"/>
              </a:rPr>
              <a:t>AFR  </a:t>
            </a:r>
            <a:pPr indent="0" marL="0">
              <a:buNone/>
            </a:pPr>
            <a:r>
              <a:rPr lang="en-US" sz="2133" dirty="0">
                <a:solidFill>
                  <a:srgbClr val="1A1A1A"/>
                </a:solidFill>
                <a:latin typeface="Arial" pitchFamily="34" charset="0"/>
                <a:ea typeface="Arial" pitchFamily="34" charset="-122"/>
                <a:cs typeface="Arial" pitchFamily="34" charset="-120"/>
              </a:rPr>
              <a:t>African · 13 sites</a:t>
            </a:r>
            <a:endParaRPr lang="en-US" sz="2133" dirty="0"/>
          </a:p>
        </p:txBody>
      </p:sp>
      <p:sp>
        <p:nvSpPr>
          <p:cNvPr id="42" name="Text 31"/>
          <p:cNvSpPr txBox="1"/>
          <p:nvPr/>
        </p:nvSpPr>
        <p:spPr>
          <a:xfrm>
            <a:off x="883920" y="13158216"/>
            <a:ext cx="9936480" cy="257556"/>
          </a:xfrm>
          <a:prstGeom prst="rect">
            <a:avLst/>
          </a:prstGeom>
          <a:noFill/>
          <a:ln/>
        </p:spPr>
        <p:txBody>
          <a:bodyPr wrap="square" lIns="0" tIns="0" rIns="0" bIns="0" rtlCol="0" anchor="t"/>
          <a:lstStyle/>
          <a:p>
            <a:pPr indent="0" marL="0">
              <a:buNone/>
            </a:pPr>
            <a:r>
              <a:rPr lang="en-US" sz="1733" dirty="0">
                <a:solidFill>
                  <a:srgbClr val="4A4A4A"/>
                </a:solidFill>
                <a:latin typeface="Arial" pitchFamily="34" charset="0"/>
                <a:ea typeface="Arial" pitchFamily="34" charset="-122"/>
                <a:cs typeface="Arial" pitchFamily="34" charset="-120"/>
              </a:rPr>
              <a:t>22 sites in all: five serve more than one group</a:t>
            </a:r>
            <a:endParaRPr lang="en-US" sz="1733" dirty="0"/>
          </a:p>
        </p:txBody>
      </p:sp>
      <p:sp>
        <p:nvSpPr>
          <p:cNvPr id="43" name="Text 32"/>
          <p:cNvSpPr txBox="1"/>
          <p:nvPr/>
        </p:nvSpPr>
        <p:spPr>
          <a:xfrm>
            <a:off x="457200" y="13598652"/>
            <a:ext cx="10363200" cy="3206496"/>
          </a:xfrm>
          <a:prstGeom prst="rect">
            <a:avLst/>
          </a:prstGeom>
          <a:noFill/>
          <a:ln/>
        </p:spPr>
        <p:txBody>
          <a:bodyPr wrap="square" lIns="0" tIns="0" rIns="0" bIns="0" rtlCol="0" anchor="t"/>
          <a:lstStyle/>
          <a:p>
            <a:pPr marL="304800" indent="-304800">
              <a:spcAft>
                <a:spcPts val="576"/>
              </a:spcAft>
              <a:buSzPct val="100000"/>
              <a:buChar char="•"/>
            </a:pPr>
            <a:r>
              <a:rPr lang="en-US" sz="2400" dirty="0">
                <a:solidFill>
                  <a:srgbClr val="1A1A1A"/>
                </a:solidFill>
                <a:latin typeface="Arial" pitchFamily="34" charset="0"/>
                <a:ea typeface="Arial" pitchFamily="34" charset="-122"/>
                <a:cs typeface="Arial" pitchFamily="34" charset="-120"/>
              </a:rPr>
              <a:t>Alamar NULISAseq CNS panel: 131 targets, 126 proteins after the hemolysis filter</a:t>
            </a:r>
            <a:endParaRPr lang="en-US" sz="2400" dirty="0"/>
          </a:p>
          <a:p>
            <a:pPr marL="304800" indent="-304800">
              <a:spcAft>
                <a:spcPts val="576"/>
              </a:spcAft>
              <a:buSzPct val="100000"/>
              <a:buChar char="•"/>
            </a:pPr>
            <a:r>
              <a:rPr lang="en-US" sz="2400" dirty="0">
                <a:solidFill>
                  <a:srgbClr val="1A1A1A"/>
                </a:solidFill>
                <a:latin typeface="Arial" pitchFamily="34" charset="0"/>
                <a:ea typeface="Arial" pitchFamily="34" charset="-122"/>
                <a:cs typeface="Arial" pitchFamily="34" charset="-120"/>
              </a:rPr>
              <a:t>NPQ: NULISA Protein Quantification, a log2 relative level</a:t>
            </a:r>
            <a:endParaRPr lang="en-US" sz="2400" dirty="0"/>
          </a:p>
          <a:p>
            <a:pPr marL="304800" indent="-304800">
              <a:spcAft>
                <a:spcPts val="576"/>
              </a:spcAft>
              <a:buSzPct val="100000"/>
              <a:buChar char="•"/>
            </a:pPr>
            <a:r>
              <a:rPr lang="en-US" sz="2400" dirty="0">
                <a:solidFill>
                  <a:srgbClr val="1A1A1A"/>
                </a:solidFill>
                <a:latin typeface="Arial" pitchFamily="34" charset="0"/>
                <a:ea typeface="Arial" pitchFamily="34" charset="-122"/>
                <a:cs typeface="Arial" pitchFamily="34" charset="-120"/>
              </a:rPr>
              <a:t>2 reagent lots, each fitted alone: lot 1, 2,467 participants (2025); lot 2, 1,806 (2026)</a:t>
            </a:r>
            <a:endParaRPr lang="en-US" sz="2400" dirty="0"/>
          </a:p>
          <a:p>
            <a:pPr marL="304800" indent="-304800">
              <a:spcAft>
                <a:spcPts val="576"/>
              </a:spcAft>
              <a:buSzPct val="100000"/>
              <a:buChar char="•"/>
            </a:pPr>
            <a:r>
              <a:rPr lang="en-US" sz="2400" dirty="0">
                <a:solidFill>
                  <a:srgbClr val="1A1A1A"/>
                </a:solidFill>
                <a:latin typeface="Arial" pitchFamily="34" charset="0"/>
                <a:ea typeface="Arial" pitchFamily="34" charset="-122"/>
                <a:cs typeface="Arial" pitchFamily="34" charset="-120"/>
              </a:rPr>
              <a:t>model: ancestry, sex, age, diagnosis, reads and a blood-cell score, with site and assay run as random effects; ancestry p-values by parametric bootstrap; full methods in the supplement</a:t>
            </a:r>
            <a:endParaRPr lang="en-US" sz="2400" dirty="0"/>
          </a:p>
        </p:txBody>
      </p:sp>
      <p:sp>
        <p:nvSpPr>
          <p:cNvPr id="44" name="APOE ε4: THE COUNTER-EXAMPLE"/>
          <p:cNvSpPr/>
          <p:nvPr/>
        </p:nvSpPr>
        <p:spPr>
          <a:xfrm>
            <a:off x="457200" y="16927068"/>
            <a:ext cx="10363200" cy="2429256"/>
          </a:xfrm>
          <a:prstGeom prst="rect">
            <a:avLst/>
          </a:prstGeom>
          <a:solidFill>
            <a:srgbClr val="FFF1DC"/>
          </a:solidFill>
          <a:ln w="12700">
            <a:solidFill>
              <a:srgbClr val="FFF1DC"/>
            </a:solidFill>
            <a:prstDash val="solid"/>
          </a:ln>
        </p:spPr>
      </p:sp>
      <p:sp>
        <p:nvSpPr>
          <p:cNvPr id="45" name="Text 34"/>
          <p:cNvSpPr txBox="1"/>
          <p:nvPr/>
        </p:nvSpPr>
        <p:spPr>
          <a:xfrm>
            <a:off x="701040" y="17140428"/>
            <a:ext cx="9875520" cy="335280"/>
          </a:xfrm>
          <a:prstGeom prst="rect">
            <a:avLst/>
          </a:prstGeom>
          <a:noFill/>
          <a:ln/>
        </p:spPr>
        <p:txBody>
          <a:bodyPr wrap="square" lIns="0" tIns="0" rIns="0" bIns="0" rtlCol="0" anchor="t"/>
          <a:lstStyle/>
          <a:p>
            <a:pPr indent="0" marL="0">
              <a:buNone/>
            </a:pPr>
            <a:r>
              <a:rPr lang="en-US" sz="2000" b="1" spc="133" kern="0" dirty="0">
                <a:solidFill>
                  <a:srgbClr val="A84F00"/>
                </a:solidFill>
                <a:latin typeface="Arial" pitchFamily="34" charset="0"/>
                <a:ea typeface="Arial" pitchFamily="34" charset="-122"/>
                <a:cs typeface="Arial" pitchFamily="34" charset="-120"/>
              </a:rPr>
              <a:t>APOE ε4: THE COUNTER-EXAMPLE</a:t>
            </a:r>
            <a:endParaRPr lang="en-US" sz="2000" dirty="0"/>
          </a:p>
        </p:txBody>
      </p:sp>
      <p:sp>
        <p:nvSpPr>
          <p:cNvPr id="46" name="Text 35"/>
          <p:cNvSpPr txBox="1"/>
          <p:nvPr/>
        </p:nvSpPr>
        <p:spPr>
          <a:xfrm>
            <a:off x="701040" y="17498568"/>
            <a:ext cx="9875520" cy="1766316"/>
          </a:xfrm>
          <a:prstGeom prst="rect">
            <a:avLst/>
          </a:prstGeom>
          <a:noFill/>
          <a:ln/>
        </p:spPr>
        <p:txBody>
          <a:bodyPr wrap="square" lIns="0" tIns="0" rIns="0" bIns="0" rtlCol="0" anchor="t"/>
          <a:lstStyle/>
          <a:p>
            <a:pPr marL="254000" indent="-254000">
              <a:spcAft>
                <a:spcPts val="576"/>
              </a:spcAft>
              <a:buSzPct val="100000"/>
              <a:buChar char="•"/>
            </a:pPr>
            <a:r>
              <a:rPr lang="en-US" sz="2000" dirty="0">
                <a:solidFill>
                  <a:srgbClr val="1A1A1A"/>
                </a:solidFill>
                <a:latin typeface="Arial" pitchFamily="34" charset="0"/>
                <a:ea typeface="Arial" pitchFamily="34" charset="-122"/>
                <a:cs typeface="Arial" pitchFamily="34" charset="-120"/>
              </a:rPr>
              <a:t>among the cognitively normal, no evidence that the ε4 effect on p-tau differs by group (pTau-217 p 0.75 in lot 1, 0.55 in lot 2)</a:t>
            </a:r>
            <a:endParaRPr lang="en-US" sz="2000" dirty="0"/>
          </a:p>
          <a:p>
            <a:pPr marL="254000" indent="-254000">
              <a:spcAft>
                <a:spcPts val="576"/>
              </a:spcAft>
              <a:buSzPct val="100000"/>
              <a:buChar char="•"/>
            </a:pPr>
            <a:r>
              <a:rPr lang="en-US" sz="2000" dirty="0">
                <a:solidFill>
                  <a:srgbClr val="1A1A1A"/>
                </a:solidFill>
                <a:latin typeface="Arial" pitchFamily="34" charset="0"/>
                <a:ea typeface="Arial" pitchFamily="34" charset="-122"/>
                <a:cs typeface="Arial" pitchFamily="34" charset="-120"/>
              </a:rPr>
              <a:t>the group difference in the ε4 slope is a lot-1 result that comes with the diagnosis mix (clinical AD: African 38%, AA 9% of those fits)</a:t>
            </a:r>
            <a:endParaRPr lang="en-US" sz="2000" dirty="0"/>
          </a:p>
          <a:p>
            <a:pPr marL="254000" indent="-254000">
              <a:spcAft>
                <a:spcPts val="576"/>
              </a:spcAft>
              <a:buSzPct val="100000"/>
              <a:buChar char="•"/>
            </a:pPr>
            <a:r>
              <a:rPr lang="en-US" sz="2000" dirty="0">
                <a:solidFill>
                  <a:srgbClr val="1A1A1A"/>
                </a:solidFill>
                <a:latin typeface="Arial" pitchFamily="34" charset="0"/>
                <a:ea typeface="Arial" pitchFamily="34" charset="-122"/>
                <a:cs typeface="Arial" pitchFamily="34" charset="-120"/>
              </a:rPr>
              <a:t>ε4 dose at NCI 0.22 / 0.20 / 0.44 / 0.49; figure in the supplement</a:t>
            </a:r>
            <a:endParaRPr lang="en-US" sz="2000" dirty="0"/>
          </a:p>
        </p:txBody>
      </p:sp>
      <p:sp>
        <p:nvSpPr>
          <p:cNvPr id="47" name="Text 36"/>
          <p:cNvSpPr txBox="1"/>
          <p:nvPr/>
        </p:nvSpPr>
        <p:spPr>
          <a:xfrm>
            <a:off x="11328400" y="5821680"/>
            <a:ext cx="10363200" cy="495300"/>
          </a:xfrm>
          <a:prstGeom prst="rect">
            <a:avLst/>
          </a:prstGeom>
          <a:noFill/>
          <a:ln/>
        </p:spPr>
        <p:txBody>
          <a:bodyPr wrap="square" lIns="0" tIns="0" rIns="0" bIns="0" rtlCol="0" anchor="t"/>
          <a:lstStyle/>
          <a:p>
            <a:pPr indent="0" marL="0">
              <a:buNone/>
            </a:pPr>
            <a:r>
              <a:rPr lang="en-US" sz="3333" b="1" dirty="0">
                <a:solidFill>
                  <a:srgbClr val="1F2A44"/>
                </a:solidFill>
                <a:latin typeface="Arial" pitchFamily="34" charset="0"/>
                <a:ea typeface="Arial" pitchFamily="34" charset="-122"/>
                <a:cs typeface="Arial" pitchFamily="34" charset="-120"/>
              </a:rPr>
              <a:t>1. ANCESTRY MOVES THE BASELINE</a:t>
            </a:r>
            <a:endParaRPr lang="en-US" sz="3333" dirty="0"/>
          </a:p>
        </p:txBody>
      </p:sp>
      <p:sp>
        <p:nvSpPr>
          <p:cNvPr id="48" name="Shape 37"/>
          <p:cNvSpPr/>
          <p:nvPr/>
        </p:nvSpPr>
        <p:spPr>
          <a:xfrm>
            <a:off x="11328400" y="6365748"/>
            <a:ext cx="10363200" cy="0"/>
          </a:xfrm>
          <a:prstGeom prst="line">
            <a:avLst/>
          </a:prstGeom>
          <a:noFill/>
          <a:ln w="50800">
            <a:solidFill>
              <a:srgbClr val="1F2A44"/>
            </a:solidFill>
            <a:prstDash val="solid"/>
          </a:ln>
        </p:spPr>
      </p:sp>
      <p:sp>
        <p:nvSpPr>
          <p:cNvPr id="49" name="Text 38"/>
          <p:cNvSpPr txBox="1"/>
          <p:nvPr/>
        </p:nvSpPr>
        <p:spPr>
          <a:xfrm>
            <a:off x="11328400" y="6573012"/>
            <a:ext cx="10363200" cy="832104"/>
          </a:xfrm>
          <a:prstGeom prst="rect">
            <a:avLst/>
          </a:prstGeom>
          <a:noFill/>
          <a:ln/>
        </p:spPr>
        <p:txBody>
          <a:bodyPr wrap="square" lIns="0" tIns="0" rIns="0" bIns="0" rtlCol="0" anchor="t"/>
          <a:lstStyle/>
          <a:p>
            <a:pPr indent="0" marL="0">
              <a:buNone/>
            </a:pPr>
            <a:r>
              <a:rPr lang="en-US" sz="2800" b="1" dirty="0">
                <a:solidFill>
                  <a:srgbClr val="332288"/>
                </a:solidFill>
                <a:latin typeface="Arial" pitchFamily="34" charset="0"/>
                <a:ea typeface="Arial" pitchFamily="34" charset="-122"/>
                <a:cs typeface="Arial" pitchFamily="34" charset="-120"/>
              </a:rPr>
              <a:t>All 49 African vs HI-WH differences point the same way in both lots</a:t>
            </a:r>
            <a:endParaRPr lang="en-US" sz="2800" dirty="0"/>
          </a:p>
        </p:txBody>
      </p:sp>
      <p:pic>
        <p:nvPicPr>
          <p:cNvPr id="50" name="fig2a_afr_caterpillar" descr="The 49 proteins that differ between African and HI-WH cognitively normal participants, ranked from MME and S100A12 (lower in African participants) to ARSA and APOE4 (higher), each with its lot-1 (orange, filled) and lot-2 (green, hollow) estimate joined by a grey line; every protein has the same sign in both lots.">    </p:cNvPr>
          <p:cNvPicPr>
            <a:picLocks noChangeAspect="1"/>
          </p:cNvPicPr>
          <p:nvPr/>
        </p:nvPicPr>
        <p:blipFill>
          <a:blip r:embed="rId10"/>
          <a:stretch>
            <a:fillRect/>
          </a:stretch>
        </p:blipFill>
        <p:spPr>
          <a:xfrm>
            <a:off x="13424593" y="7466076"/>
            <a:ext cx="6170815" cy="3992880"/>
          </a:xfrm>
          <a:prstGeom prst="rect">
            <a:avLst/>
          </a:prstGeom>
        </p:spPr>
      </p:pic>
      <p:sp>
        <p:nvSpPr>
          <p:cNvPr id="51" name="Text 39"/>
          <p:cNvSpPr txBox="1"/>
          <p:nvPr/>
        </p:nvSpPr>
        <p:spPr>
          <a:xfrm>
            <a:off x="11328400" y="11519916"/>
            <a:ext cx="10363200" cy="2063496"/>
          </a:xfrm>
          <a:prstGeom prst="rect">
            <a:avLst/>
          </a:prstGeom>
          <a:noFill/>
          <a:ln/>
        </p:spPr>
        <p:txBody>
          <a:bodyPr wrap="square" lIns="0" tIns="0" rIns="0" bIns="0" rtlCol="0" anchor="t"/>
          <a:lstStyle/>
          <a:p>
            <a:pPr marL="304800" indent="-304800">
              <a:spcAft>
                <a:spcPts val="576"/>
              </a:spcAft>
              <a:buSzPct val="100000"/>
              <a:buChar char="•"/>
            </a:pPr>
            <a:r>
              <a:rPr lang="en-US" sz="2400" dirty="0">
                <a:solidFill>
                  <a:srgbClr val="1A1A1A"/>
                </a:solidFill>
                <a:latin typeface="Arial" pitchFamily="34" charset="0"/>
                <a:ea typeface="Arial" pitchFamily="34" charset="-122"/>
                <a:cs typeface="Arial" pitchFamily="34" charset="-120"/>
              </a:rPr>
              <a:t>62 of 126 differ; vs HI-WH at NCI: African 49, AA 38, HI-MU 3</a:t>
            </a:r>
            <a:endParaRPr lang="en-US" sz="2400" dirty="0"/>
          </a:p>
          <a:p>
            <a:pPr marL="304800" indent="-304800">
              <a:spcAft>
                <a:spcPts val="576"/>
              </a:spcAft>
              <a:buSzPct val="100000"/>
              <a:buChar char="•"/>
            </a:pPr>
            <a:r>
              <a:rPr lang="en-US" sz="2400" dirty="0">
                <a:solidFill>
                  <a:srgbClr val="1A1A1A"/>
                </a:solidFill>
                <a:latin typeface="Arial" pitchFamily="34" charset="0"/>
                <a:ea typeface="Arial" pitchFamily="34" charset="-122"/>
                <a:cs typeface="Arial" pitchFamily="34" charset="-120"/>
              </a:rPr>
              <a:t>ρ 0.93 between lots, size ratio 0.99; 19 above 2-fold; lots disagree for 5 (‡), reagent changed for 3 (†): lot 1 shown</a:t>
            </a:r>
            <a:endParaRPr lang="en-US" sz="2400" dirty="0"/>
          </a:p>
          <a:p>
            <a:pPr marL="304800" indent="-304800">
              <a:spcAft>
                <a:spcPts val="576"/>
              </a:spcAft>
              <a:buSzPct val="100000"/>
              <a:buChar char="•"/>
            </a:pPr>
            <a:r>
              <a:rPr lang="en-US" sz="2400" dirty="0">
                <a:solidFill>
                  <a:srgbClr val="1A1A1A"/>
                </a:solidFill>
                <a:latin typeface="Arial" pitchFamily="34" charset="0"/>
                <a:ea typeface="Arial" pitchFamily="34" charset="-122"/>
                <a:cs typeface="Arial" pitchFamily="34" charset="-120"/>
              </a:rPr>
              <a:t>HI-MU, Peruvian and Ecuadorian vs Caribbean: 10 in one site, 22 across three (section 3)</a:t>
            </a:r>
            <a:endParaRPr lang="en-US" sz="2400" dirty="0"/>
          </a:p>
        </p:txBody>
      </p:sp>
      <p:sp>
        <p:nvSpPr>
          <p:cNvPr id="52" name="Text 40"/>
          <p:cNvSpPr txBox="1"/>
          <p:nvPr/>
        </p:nvSpPr>
        <p:spPr>
          <a:xfrm>
            <a:off x="11328400" y="13735812"/>
            <a:ext cx="10363200" cy="832104"/>
          </a:xfrm>
          <a:prstGeom prst="rect">
            <a:avLst/>
          </a:prstGeom>
          <a:noFill/>
          <a:ln/>
        </p:spPr>
        <p:txBody>
          <a:bodyPr wrap="square" lIns="0" tIns="0" rIns="0" bIns="0" rtlCol="0" anchor="t"/>
          <a:lstStyle/>
          <a:p>
            <a:pPr indent="0" marL="0">
              <a:buNone/>
            </a:pPr>
            <a:r>
              <a:rPr lang="en-US" sz="2800" b="1" dirty="0">
                <a:solidFill>
                  <a:srgbClr val="332288"/>
                </a:solidFill>
                <a:latin typeface="Arial" pitchFamily="34" charset="0"/>
                <a:ea typeface="Arial" pitchFamily="34" charset="-122"/>
                <a:cs typeface="Arial" pitchFamily="34" charset="-120"/>
              </a:rPr>
              <a:t>The CHIT1 difference is the allele frequency; for IL6R, about half of it</a:t>
            </a:r>
            <a:endParaRPr lang="en-US" sz="2800" dirty="0"/>
          </a:p>
        </p:txBody>
      </p:sp>
      <p:pic>
        <p:nvPicPr>
          <p:cNvPr id="53" name="fig_pqtl_dose_freq" descr="Three proteins in columns. Top row: the protein against the number of copies of its variant, among cognitively normal participants with whole-genome sequence, one line per ancestry group. Bottom row: each group's mean NPQ at NCI against that group's allele frequency, with the level expected from HI-WH and the per-allele effect as a dashed line; CHIT1 with the 24-bp duplication, IL6R with Asp358Ala, TIMP3 with rs4339044.">    </p:cNvPr>
          <p:cNvPicPr>
            <a:picLocks noChangeAspect="1"/>
          </p:cNvPicPr>
          <p:nvPr/>
        </p:nvPicPr>
        <p:blipFill>
          <a:blip r:embed="rId11"/>
          <a:stretch>
            <a:fillRect/>
          </a:stretch>
        </p:blipFill>
        <p:spPr>
          <a:xfrm>
            <a:off x="13894526" y="14628876"/>
            <a:ext cx="5230949" cy="3230880"/>
          </a:xfrm>
          <a:prstGeom prst="rect">
            <a:avLst/>
          </a:prstGeom>
        </p:spPr>
      </p:pic>
      <p:sp>
        <p:nvSpPr>
          <p:cNvPr id="54" name="Text 41"/>
          <p:cNvSpPr txBox="1"/>
          <p:nvPr/>
        </p:nvSpPr>
        <p:spPr>
          <a:xfrm>
            <a:off x="11328400" y="17859756"/>
            <a:ext cx="10363200" cy="1606296"/>
          </a:xfrm>
          <a:prstGeom prst="rect">
            <a:avLst/>
          </a:prstGeom>
          <a:noFill/>
          <a:ln/>
        </p:spPr>
        <p:txBody>
          <a:bodyPr wrap="square" lIns="0" tIns="0" rIns="0" bIns="0" rtlCol="0" anchor="t"/>
          <a:lstStyle/>
          <a:p>
            <a:pPr indent="0" marL="0">
              <a:buNone/>
            </a:pPr>
            <a:r>
              <a:rPr lang="en-US" sz="1733" dirty="0">
                <a:solidFill>
                  <a:srgbClr val="4A4A4A"/>
                </a:solidFill>
                <a:latin typeface="Arial" pitchFamily="34" charset="0"/>
                <a:ea typeface="Arial" pitchFamily="34" charset="-122"/>
                <a:cs typeface="Arial" pitchFamily="34" charset="-120"/>
              </a:rPr>
              <a:t>Top: by allele dose within group, cognitively normal with WGS. Bottom: each group's mean NPQ at NCI against its frequency; dashed = expected from the HI-WH level and the per-allele effect; % = whole-cohort share. Before / after the genotype enters the model, sequenced participants, both lots in one fit with a lot term: CHIT1 +1.55 to +0.05 log2, IL6R −0.35 to −0.03, TIMP3 −0.13 to +0.01 (cohort −1.23). WGS 2,278 of 4,273; 30 of the 49 have no variant in the WGS set, 9 have one that does not move the protein.</a:t>
            </a:r>
            <a:endParaRPr lang="en-US" sz="1733" dirty="0"/>
          </a:p>
        </p:txBody>
      </p:sp>
      <p:sp>
        <p:nvSpPr>
          <p:cNvPr id="55" name="Text 42"/>
          <p:cNvSpPr txBox="1"/>
          <p:nvPr/>
        </p:nvSpPr>
        <p:spPr>
          <a:xfrm>
            <a:off x="22199600" y="5821680"/>
            <a:ext cx="10363200" cy="495300"/>
          </a:xfrm>
          <a:prstGeom prst="rect">
            <a:avLst/>
          </a:prstGeom>
          <a:noFill/>
          <a:ln/>
        </p:spPr>
        <p:txBody>
          <a:bodyPr wrap="square" lIns="0" tIns="0" rIns="0" bIns="0" rtlCol="0" anchor="t"/>
          <a:lstStyle/>
          <a:p>
            <a:pPr indent="0" marL="0">
              <a:buNone/>
            </a:pPr>
            <a:r>
              <a:rPr lang="en-US" sz="3333" b="1" dirty="0">
                <a:solidFill>
                  <a:srgbClr val="1F2A44"/>
                </a:solidFill>
                <a:latin typeface="Arial" pitchFamily="34" charset="0"/>
                <a:ea typeface="Arial" pitchFamily="34" charset="-122"/>
                <a:cs typeface="Arial" pitchFamily="34" charset="-120"/>
              </a:rPr>
              <a:t>2. ANCESTRY RARELY MOVES THE AD SIGNAL</a:t>
            </a:r>
            <a:endParaRPr lang="en-US" sz="3333" dirty="0"/>
          </a:p>
        </p:txBody>
      </p:sp>
      <p:sp>
        <p:nvSpPr>
          <p:cNvPr id="56" name="Shape 43"/>
          <p:cNvSpPr/>
          <p:nvPr/>
        </p:nvSpPr>
        <p:spPr>
          <a:xfrm>
            <a:off x="22199600" y="6365748"/>
            <a:ext cx="10363200" cy="0"/>
          </a:xfrm>
          <a:prstGeom prst="line">
            <a:avLst/>
          </a:prstGeom>
          <a:noFill/>
          <a:ln w="50800">
            <a:solidFill>
              <a:srgbClr val="1F2A44"/>
            </a:solidFill>
            <a:prstDash val="solid"/>
          </a:ln>
        </p:spPr>
      </p:sp>
      <p:sp>
        <p:nvSpPr>
          <p:cNvPr id="57" name="Text 44"/>
          <p:cNvSpPr txBox="1"/>
          <p:nvPr/>
        </p:nvSpPr>
        <p:spPr>
          <a:xfrm>
            <a:off x="22199600" y="6573012"/>
            <a:ext cx="10363200" cy="1248156"/>
          </a:xfrm>
          <a:prstGeom prst="rect">
            <a:avLst/>
          </a:prstGeom>
          <a:noFill/>
          <a:ln/>
        </p:spPr>
        <p:txBody>
          <a:bodyPr wrap="square" lIns="0" tIns="0" rIns="0" bIns="0" rtlCol="0" anchor="t"/>
          <a:lstStyle/>
          <a:p>
            <a:pPr indent="0" marL="0">
              <a:buNone/>
            </a:pPr>
            <a:r>
              <a:rPr lang="en-US" sz="2800" b="1" dirty="0">
                <a:solidFill>
                  <a:srgbClr val="332288"/>
                </a:solidFill>
                <a:latin typeface="Arial" pitchFamily="34" charset="0"/>
                <a:ea typeface="Arial" pitchFamily="34" charset="-122"/>
                <a:cs typeface="Arial" pitchFamily="34" charset="-120"/>
              </a:rPr>
              <a:t>p-tau rises from NCI through MCI to AD in every group, in both lots; BD-pTau-217 rises least in African participants</a:t>
            </a:r>
            <a:endParaRPr lang="en-US" sz="2800" dirty="0"/>
          </a:p>
        </p:txBody>
      </p:sp>
      <p:pic>
        <p:nvPicPr>
          <p:cNvPr id="58" name="fig4b_stage_by_group" descr="Level at each diagnosis stage, NCI, MCI and AD, in each group, relative to HI-WH cognitively normal, for pTau-217, BD-pTau-217, NEFL and GFAP; lot 1 in the top row, lot 2 below. p-tau rises from NCI to AD in every group, least in African participants; NEFL and GFAP rise in every group.">    </p:cNvPr>
          <p:cNvPicPr>
            <a:picLocks noChangeAspect="1"/>
          </p:cNvPicPr>
          <p:nvPr/>
        </p:nvPicPr>
        <p:blipFill>
          <a:blip r:embed="rId12"/>
          <a:stretch>
            <a:fillRect/>
          </a:stretch>
        </p:blipFill>
        <p:spPr>
          <a:xfrm>
            <a:off x="22199600" y="7882128"/>
            <a:ext cx="10363200" cy="4267200"/>
          </a:xfrm>
          <a:prstGeom prst="rect">
            <a:avLst/>
          </a:prstGeom>
        </p:spPr>
      </p:pic>
      <p:sp>
        <p:nvSpPr>
          <p:cNvPr id="59" name="Text 45"/>
          <p:cNvSpPr txBox="1"/>
          <p:nvPr/>
        </p:nvSpPr>
        <p:spPr>
          <a:xfrm>
            <a:off x="22199600" y="12149328"/>
            <a:ext cx="10363200" cy="318516"/>
          </a:xfrm>
          <a:prstGeom prst="rect">
            <a:avLst/>
          </a:prstGeom>
          <a:noFill/>
          <a:ln/>
        </p:spPr>
        <p:txBody>
          <a:bodyPr wrap="square" lIns="0" tIns="0" rIns="0" bIns="0" rtlCol="0" anchor="t"/>
          <a:lstStyle/>
          <a:p>
            <a:pPr indent="0" marL="0">
              <a:buNone/>
            </a:pPr>
            <a:r>
              <a:rPr lang="en-US" sz="1733" dirty="0">
                <a:solidFill>
                  <a:srgbClr val="4A4A4A"/>
                </a:solidFill>
                <a:latin typeface="Arial" pitchFamily="34" charset="0"/>
                <a:ea typeface="Arial" pitchFamily="34" charset="-122"/>
                <a:cs typeface="Arial" pitchFamily="34" charset="-120"/>
              </a:rPr>
              <a:t>Cross-sectional: different people at each stage, not one person followed over time.</a:t>
            </a:r>
            <a:endParaRPr lang="en-US" sz="1733" dirty="0"/>
          </a:p>
        </p:txBody>
      </p:sp>
      <p:sp>
        <p:nvSpPr>
          <p:cNvPr id="60" name="Text 46"/>
          <p:cNvSpPr txBox="1"/>
          <p:nvPr/>
        </p:nvSpPr>
        <p:spPr>
          <a:xfrm>
            <a:off x="22199600" y="12528804"/>
            <a:ext cx="10363200" cy="847344"/>
          </a:xfrm>
          <a:prstGeom prst="rect">
            <a:avLst/>
          </a:prstGeom>
          <a:noFill/>
          <a:ln/>
        </p:spPr>
        <p:txBody>
          <a:bodyPr wrap="square" lIns="0" tIns="0" rIns="0" bIns="0" rtlCol="0" anchor="t"/>
          <a:lstStyle/>
          <a:p>
            <a:pPr marL="304800" indent="-304800">
              <a:spcAft>
                <a:spcPts val="576"/>
              </a:spcAft>
              <a:buSzPct val="100000"/>
              <a:buChar char="•"/>
            </a:pPr>
            <a:r>
              <a:rPr lang="en-US" sz="2400" dirty="0">
                <a:solidFill>
                  <a:srgbClr val="1A1A1A"/>
                </a:solidFill>
                <a:latin typeface="Arial" pitchFamily="34" charset="0"/>
                <a:ea typeface="Arial" pitchFamily="34" charset="-122"/>
                <a:cs typeface="Arial" pitchFamily="34" charset="-120"/>
              </a:rPr>
              <a:t>12 group × diagnosis interactions of 126; BD-pTau-217 holds in lot 2 alone (p 0.002), pTau-217 and NEFL do not</a:t>
            </a:r>
            <a:endParaRPr lang="en-US" sz="2400" dirty="0"/>
          </a:p>
        </p:txBody>
      </p:sp>
      <p:sp>
        <p:nvSpPr>
          <p:cNvPr id="61" name="Text 47"/>
          <p:cNvSpPr txBox="1"/>
          <p:nvPr/>
        </p:nvSpPr>
        <p:spPr>
          <a:xfrm>
            <a:off x="22199600" y="13528548"/>
            <a:ext cx="10363200" cy="832104"/>
          </a:xfrm>
          <a:prstGeom prst="rect">
            <a:avLst/>
          </a:prstGeom>
          <a:noFill/>
          <a:ln/>
        </p:spPr>
        <p:txBody>
          <a:bodyPr wrap="square" lIns="0" tIns="0" rIns="0" bIns="0" rtlCol="0" anchor="t"/>
          <a:lstStyle/>
          <a:p>
            <a:pPr indent="0" marL="0">
              <a:buNone/>
            </a:pPr>
            <a:r>
              <a:rPr lang="en-US" sz="2800" b="1" dirty="0">
                <a:solidFill>
                  <a:srgbClr val="332288"/>
                </a:solidFill>
                <a:latin typeface="Arial" pitchFamily="34" charset="0"/>
                <a:ea typeface="Arial" pitchFamily="34" charset="-122"/>
                <a:cs typeface="Arial" pitchFamily="34" charset="-120"/>
              </a:rPr>
              <a:t>One BD-pTau-217 cut flags 5 to 10% of normals in every group, and fewer clinical AD at most African sites</a:t>
            </a:r>
            <a:endParaRPr lang="en-US" sz="2800" dirty="0"/>
          </a:p>
        </p:txBody>
      </p:sp>
      <p:pic>
        <p:nvPicPr>
          <p:cNvPr id="62" name="fig6_cutpoint_by_group" descr="Percent of clinical AD (filled) and cognitively normal (hollow) participants above a cut-point set at the HI-WH normals' 90th percentile within lot, by group, for five markers in each lot; for BD-pTau-217 the normals sit at 5 to 10 percent in every group, and fewer African participants with clinical AD are above the cut.">    </p:cNvPr>
          <p:cNvPicPr>
            <a:picLocks noChangeAspect="1"/>
          </p:cNvPicPr>
          <p:nvPr/>
        </p:nvPicPr>
        <p:blipFill>
          <a:blip r:embed="rId13"/>
          <a:stretch>
            <a:fillRect/>
          </a:stretch>
        </p:blipFill>
        <p:spPr>
          <a:xfrm>
            <a:off x="22199600" y="14421612"/>
            <a:ext cx="10363200" cy="3901440"/>
          </a:xfrm>
          <a:prstGeom prst="rect">
            <a:avLst/>
          </a:prstGeom>
        </p:spPr>
      </p:pic>
      <p:sp>
        <p:nvSpPr>
          <p:cNvPr id="63" name="Text 48"/>
          <p:cNvSpPr txBox="1"/>
          <p:nvPr/>
        </p:nvSpPr>
        <p:spPr>
          <a:xfrm>
            <a:off x="22199600" y="18323052"/>
            <a:ext cx="10363200" cy="1091184"/>
          </a:xfrm>
          <a:prstGeom prst="rect">
            <a:avLst/>
          </a:prstGeom>
          <a:noFill/>
          <a:ln/>
        </p:spPr>
        <p:txBody>
          <a:bodyPr wrap="square" lIns="0" tIns="0" rIns="0" bIns="0" rtlCol="0" anchor="t"/>
          <a:lstStyle/>
          <a:p>
            <a:pPr indent="0" marL="0">
              <a:buNone/>
            </a:pPr>
            <a:r>
              <a:rPr lang="en-US" sz="1733" dirty="0">
                <a:solidFill>
                  <a:srgbClr val="4A4A4A"/>
                </a:solidFill>
                <a:latin typeface="Arial" pitchFamily="34" charset="0"/>
                <a:ea typeface="Arial" pitchFamily="34" charset="-122"/>
                <a:cs typeface="Arial" pitchFamily="34" charset="-120"/>
              </a:rPr>
              <a:t>Cut: 90th percentile of HI-WH cognitively normal, within lot (10th for Aβ42). BD-pTau-217, clinical AD above the cut: African 30% vs 43 to 52% (lot 1), 41% vs 62 to 75% (lot 2; HI-WH 28 AD / 58 NCI, HI-MU 21 / 82); by site in lot 2, 5 of 8 African sites 31 to 44%, 3 (50 to 75%) with the other groups’ 50 to 76%; the same pattern on pTau-217 and BD-pTau-181.</a:t>
            </a:r>
            <a:endParaRPr lang="en-US" sz="1733" dirty="0"/>
          </a:p>
        </p:txBody>
      </p:sp>
      <p:sp>
        <p:nvSpPr>
          <p:cNvPr id="64" name="Text 49"/>
          <p:cNvSpPr txBox="1"/>
          <p:nvPr/>
        </p:nvSpPr>
        <p:spPr>
          <a:xfrm>
            <a:off x="33070800" y="5821680"/>
            <a:ext cx="10363200" cy="495300"/>
          </a:xfrm>
          <a:prstGeom prst="rect">
            <a:avLst/>
          </a:prstGeom>
          <a:noFill/>
          <a:ln/>
        </p:spPr>
        <p:txBody>
          <a:bodyPr wrap="square" lIns="0" tIns="0" rIns="0" bIns="0" rtlCol="0" anchor="t"/>
          <a:lstStyle/>
          <a:p>
            <a:pPr indent="0" marL="0">
              <a:buNone/>
            </a:pPr>
            <a:r>
              <a:rPr lang="en-US" sz="3333" b="1" dirty="0">
                <a:solidFill>
                  <a:srgbClr val="1F2A44"/>
                </a:solidFill>
                <a:latin typeface="Arial" pitchFamily="34" charset="0"/>
                <a:ea typeface="Arial" pitchFamily="34" charset="-122"/>
                <a:cs typeface="Arial" pitchFamily="34" charset="-120"/>
              </a:rPr>
              <a:t>3. REGIONS WITHIN A GROUP</a:t>
            </a:r>
            <a:endParaRPr lang="en-US" sz="3333" dirty="0"/>
          </a:p>
        </p:txBody>
      </p:sp>
      <p:sp>
        <p:nvSpPr>
          <p:cNvPr id="65" name="Shape 50"/>
          <p:cNvSpPr/>
          <p:nvPr/>
        </p:nvSpPr>
        <p:spPr>
          <a:xfrm>
            <a:off x="33070800" y="6365748"/>
            <a:ext cx="10363200" cy="0"/>
          </a:xfrm>
          <a:prstGeom prst="line">
            <a:avLst/>
          </a:prstGeom>
          <a:noFill/>
          <a:ln w="50800">
            <a:solidFill>
              <a:srgbClr val="1F2A44"/>
            </a:solidFill>
            <a:prstDash val="solid"/>
          </a:ln>
        </p:spPr>
      </p:sp>
      <p:sp>
        <p:nvSpPr>
          <p:cNvPr id="66" name="Text 51"/>
          <p:cNvSpPr txBox="1"/>
          <p:nvPr/>
        </p:nvSpPr>
        <p:spPr>
          <a:xfrm>
            <a:off x="33070800" y="6573012"/>
            <a:ext cx="10363200" cy="1248156"/>
          </a:xfrm>
          <a:prstGeom prst="rect">
            <a:avLst/>
          </a:prstGeom>
          <a:noFill/>
          <a:ln/>
        </p:spPr>
        <p:txBody>
          <a:bodyPr wrap="square" lIns="0" tIns="0" rIns="0" bIns="0" rtlCol="0" anchor="t"/>
          <a:lstStyle/>
          <a:p>
            <a:pPr indent="0" marL="0">
              <a:buNone/>
            </a:pPr>
            <a:r>
              <a:rPr lang="en-US" sz="2800" b="1" dirty="0">
                <a:solidFill>
                  <a:srgbClr val="332288"/>
                </a:solidFill>
                <a:latin typeface="Arial" pitchFamily="34" charset="0"/>
                <a:ea typeface="Arial" pitchFamily="34" charset="-122"/>
                <a:cs typeface="Arial" pitchFamily="34" charset="-120"/>
              </a:rPr>
              <a:t>Peruvian and Ecuadorian vs Caribbean: 10 differ inside one New York site; 22 across three sites, where the Peru site and Peruvian origin cannot be separated</a:t>
            </a:r>
            <a:endParaRPr lang="en-US" sz="2800" dirty="0"/>
          </a:p>
        </p:txBody>
      </p:sp>
      <p:pic>
        <p:nvPicPr>
          <p:cNvPr id="67" name="fig5_regional" descr="Left, Peruvian and Ecuadorian minus Caribbean among HI-MU: 24 proteins, each with the estimate over all sites, site in the model (filled), and inside one New York site (hollow); every name coloured by function, a star on the 8 that differ in both designs (IL13, CCL17, TAFA5, VEGFA, IL6, IL6R, PDGFRB, MME); SAA1 and CST3 differ only inside the one site, the other 14 only across sites. Right, East minus West Africa with site in the model: CCL13, MSLN, FOLR1, NPTX1, YWHAZ.">    </p:cNvPr>
          <p:cNvPicPr>
            <a:picLocks noChangeAspect="1"/>
          </p:cNvPicPr>
          <p:nvPr/>
        </p:nvPicPr>
        <p:blipFill>
          <a:blip r:embed="rId14"/>
          <a:stretch>
            <a:fillRect/>
          </a:stretch>
        </p:blipFill>
        <p:spPr>
          <a:xfrm>
            <a:off x="33135570" y="7882128"/>
            <a:ext cx="10233660" cy="5417820"/>
          </a:xfrm>
          <a:prstGeom prst="rect">
            <a:avLst/>
          </a:prstGeom>
        </p:spPr>
      </p:pic>
      <p:sp>
        <p:nvSpPr>
          <p:cNvPr id="68" name="Text 52"/>
          <p:cNvSpPr txBox="1"/>
          <p:nvPr/>
        </p:nvSpPr>
        <p:spPr>
          <a:xfrm>
            <a:off x="33070800" y="13299948"/>
            <a:ext cx="10363200" cy="833628"/>
          </a:xfrm>
          <a:prstGeom prst="rect">
            <a:avLst/>
          </a:prstGeom>
          <a:noFill/>
          <a:ln/>
        </p:spPr>
        <p:txBody>
          <a:bodyPr wrap="square" lIns="0" tIns="0" rIns="0" bIns="0" rtlCol="0" anchor="t"/>
          <a:lstStyle/>
          <a:p>
            <a:pPr indent="0" marL="0">
              <a:buNone/>
            </a:pPr>
            <a:r>
              <a:rPr lang="en-US" sz="1733" dirty="0">
                <a:solidFill>
                  <a:srgbClr val="4A4A4A"/>
                </a:solidFill>
                <a:latin typeface="Arial" pitchFamily="34" charset="0"/>
                <a:ea typeface="Arial" pitchFamily="34" charset="-122"/>
                <a:cs typeface="Arial" pitchFamily="34" charset="-120"/>
              </a:rPr>
              <a:t>Filled: all sites, site in the model (848 HI-MU); hollow: the New York site alone, 53 vs 379. The Peru site holds 197 of the 260 Peruvian and Ecuadorian and no Caribbean; * = FDR &lt; 0.05 in both; the 14 that differ only across sites are all higher in Peruvian and Ecuadorian.</a:t>
            </a:r>
            <a:endParaRPr lang="en-US" sz="1733" dirty="0"/>
          </a:p>
        </p:txBody>
      </p:sp>
      <p:sp>
        <p:nvSpPr>
          <p:cNvPr id="69" name="Text 53"/>
          <p:cNvSpPr txBox="1"/>
          <p:nvPr/>
        </p:nvSpPr>
        <p:spPr>
          <a:xfrm>
            <a:off x="33070800" y="14194536"/>
            <a:ext cx="10363200" cy="920496"/>
          </a:xfrm>
          <a:prstGeom prst="rect">
            <a:avLst/>
          </a:prstGeom>
          <a:noFill/>
          <a:ln/>
        </p:spPr>
        <p:txBody>
          <a:bodyPr wrap="square" lIns="0" tIns="0" rIns="0" bIns="0" rtlCol="0" anchor="t"/>
          <a:lstStyle/>
          <a:p>
            <a:pPr marL="304800" indent="-304800">
              <a:spcAft>
                <a:spcPts val="576"/>
              </a:spcAft>
              <a:buSzPct val="100000"/>
              <a:buChar char="•"/>
            </a:pPr>
            <a:r>
              <a:rPr lang="en-US" sz="2400" dirty="0">
                <a:solidFill>
                  <a:srgbClr val="1A1A1A"/>
                </a:solidFill>
                <a:latin typeface="Arial" pitchFamily="34" charset="0"/>
                <a:ea typeface="Arial" pitchFamily="34" charset="-122"/>
                <a:cs typeface="Arial" pitchFamily="34" charset="-120"/>
              </a:rPr>
              <a:t>East vs West Africa 5; 6 of the 10 + 5 are immune</a:t>
            </a:r>
            <a:endParaRPr lang="en-US" sz="2400" dirty="0"/>
          </a:p>
          <a:p>
            <a:pPr marL="304800" indent="-304800">
              <a:spcAft>
                <a:spcPts val="576"/>
              </a:spcAft>
              <a:buSzPct val="100000"/>
              <a:buChar char="•"/>
            </a:pPr>
            <a:r>
              <a:rPr lang="en-US" sz="2400" dirty="0">
                <a:solidFill>
                  <a:srgbClr val="1A1A1A"/>
                </a:solidFill>
                <a:latin typeface="Arial" pitchFamily="34" charset="0"/>
                <a:ea typeface="Arial" pitchFamily="34" charset="-122"/>
                <a:cs typeface="Arial" pitchFamily="34" charset="-120"/>
              </a:rPr>
              <a:t>IL6R higher in Peruvian and Ecuadorian, as rs2228145 predicts</a:t>
            </a:r>
            <a:endParaRPr lang="en-US" sz="2400" dirty="0"/>
          </a:p>
        </p:txBody>
      </p:sp>
      <p:sp>
        <p:nvSpPr>
          <p:cNvPr id="70" name="CAVEATS"/>
          <p:cNvSpPr/>
          <p:nvPr/>
        </p:nvSpPr>
        <p:spPr>
          <a:xfrm>
            <a:off x="33070800" y="15206472"/>
            <a:ext cx="10363200" cy="2205228"/>
          </a:xfrm>
          <a:prstGeom prst="rect">
            <a:avLst/>
          </a:prstGeom>
          <a:solidFill>
            <a:srgbClr val="FFF1DC"/>
          </a:solidFill>
          <a:ln w="12700">
            <a:solidFill>
              <a:srgbClr val="FFF1DC"/>
            </a:solidFill>
            <a:prstDash val="solid"/>
          </a:ln>
        </p:spPr>
      </p:sp>
      <p:sp>
        <p:nvSpPr>
          <p:cNvPr id="71" name="Text 55"/>
          <p:cNvSpPr txBox="1"/>
          <p:nvPr/>
        </p:nvSpPr>
        <p:spPr>
          <a:xfrm>
            <a:off x="33314640" y="15419832"/>
            <a:ext cx="9875520" cy="335280"/>
          </a:xfrm>
          <a:prstGeom prst="rect">
            <a:avLst/>
          </a:prstGeom>
          <a:noFill/>
          <a:ln/>
        </p:spPr>
        <p:txBody>
          <a:bodyPr wrap="square" lIns="0" tIns="0" rIns="0" bIns="0" rtlCol="0" anchor="t"/>
          <a:lstStyle/>
          <a:p>
            <a:pPr indent="0" marL="0">
              <a:buNone/>
            </a:pPr>
            <a:r>
              <a:rPr lang="en-US" sz="2000" b="1" spc="133" kern="0" dirty="0">
                <a:solidFill>
                  <a:srgbClr val="A84F00"/>
                </a:solidFill>
                <a:latin typeface="Arial" pitchFamily="34" charset="0"/>
                <a:ea typeface="Arial" pitchFamily="34" charset="-122"/>
                <a:cs typeface="Arial" pitchFamily="34" charset="-120"/>
              </a:rPr>
              <a:t>CAVEATS</a:t>
            </a:r>
            <a:endParaRPr lang="en-US" sz="2000" dirty="0"/>
          </a:p>
        </p:txBody>
      </p:sp>
      <p:sp>
        <p:nvSpPr>
          <p:cNvPr id="72" name="Text 56"/>
          <p:cNvSpPr txBox="1"/>
          <p:nvPr/>
        </p:nvSpPr>
        <p:spPr>
          <a:xfrm>
            <a:off x="33314640" y="15777972"/>
            <a:ext cx="9875520" cy="1542288"/>
          </a:xfrm>
          <a:prstGeom prst="rect">
            <a:avLst/>
          </a:prstGeom>
          <a:noFill/>
          <a:ln/>
        </p:spPr>
        <p:txBody>
          <a:bodyPr wrap="square" lIns="0" tIns="0" rIns="0" bIns="0" rtlCol="0" anchor="t"/>
          <a:lstStyle/>
          <a:p>
            <a:pPr marL="254000" indent="-254000">
              <a:spcAft>
                <a:spcPts val="576"/>
              </a:spcAft>
              <a:buSzPct val="100000"/>
              <a:buChar char="•"/>
            </a:pPr>
            <a:r>
              <a:rPr lang="en-US" sz="2000" dirty="0">
                <a:solidFill>
                  <a:srgbClr val="1A1A1A"/>
                </a:solidFill>
                <a:latin typeface="Arial" pitchFamily="34" charset="0"/>
                <a:ea typeface="Arial" pitchFamily="34" charset="-122"/>
                <a:cs typeface="Arial" pitchFamily="34" charset="-120"/>
              </a:rPr>
              <a:t>clinical diagnosis, not amyloid-confirmed; one draw per person</a:t>
            </a:r>
            <a:endParaRPr lang="en-US" sz="2000" dirty="0"/>
          </a:p>
          <a:p>
            <a:pPr marL="254000" indent="-254000">
              <a:spcAft>
                <a:spcPts val="576"/>
              </a:spcAft>
              <a:buSzPct val="100000"/>
              <a:buChar char="•"/>
            </a:pPr>
            <a:r>
              <a:rPr lang="en-US" sz="2000" dirty="0">
                <a:solidFill>
                  <a:srgbClr val="1A1A1A"/>
                </a:solidFill>
                <a:latin typeface="Arial" pitchFamily="34" charset="0"/>
                <a:ea typeface="Arial" pitchFamily="34" charset="-122"/>
                <a:cs typeface="Arial" pitchFamily="34" charset="-120"/>
              </a:rPr>
              <a:t>groups: self-identified (US) or born in Africa; no genetic PCs</a:t>
            </a:r>
            <a:endParaRPr lang="en-US" sz="2000" dirty="0"/>
          </a:p>
          <a:p>
            <a:pPr marL="254000" indent="-254000">
              <a:spcAft>
                <a:spcPts val="576"/>
              </a:spcAft>
              <a:buSzPct val="100000"/>
              <a:buChar char="•"/>
            </a:pPr>
            <a:r>
              <a:rPr lang="en-US" sz="2000" dirty="0">
                <a:solidFill>
                  <a:srgbClr val="1A1A1A"/>
                </a:solidFill>
                <a:latin typeface="Arial" pitchFamily="34" charset="0"/>
                <a:ea typeface="Arial" pitchFamily="34" charset="-122"/>
                <a:cs typeface="Arial" pitchFamily="34" charset="-120"/>
              </a:rPr>
              <a:t>African: own 13 sites, one assay run in lot 1</a:t>
            </a:r>
            <a:endParaRPr lang="en-US" sz="2000" dirty="0"/>
          </a:p>
          <a:p>
            <a:pPr marL="254000" indent="-254000">
              <a:spcAft>
                <a:spcPts val="576"/>
              </a:spcAft>
              <a:buSzPct val="100000"/>
              <a:buChar char="•"/>
            </a:pPr>
            <a:r>
              <a:rPr lang="en-US" sz="2000" dirty="0">
                <a:solidFill>
                  <a:srgbClr val="1A1A1A"/>
                </a:solidFill>
                <a:latin typeface="Arial" pitchFamily="34" charset="0"/>
                <a:ea typeface="Arial" pitchFamily="34" charset="-122"/>
                <a:cs typeface="Arial" pitchFamily="34" charset="-120"/>
              </a:rPr>
              <a:t>handling, storage, diagnostic workup differ by site</a:t>
            </a:r>
            <a:endParaRPr lang="en-US" sz="2000" dirty="0"/>
          </a:p>
        </p:txBody>
      </p:sp>
      <p:sp>
        <p:nvSpPr>
          <p:cNvPr id="73" name="SUPPLEMENT"/>
          <p:cNvSpPr/>
          <p:nvPr/>
        </p:nvSpPr>
        <p:spPr>
          <a:xfrm>
            <a:off x="33070800" y="17564100"/>
            <a:ext cx="10363200" cy="1912620"/>
          </a:xfrm>
          <a:prstGeom prst="rect">
            <a:avLst/>
          </a:prstGeom>
          <a:solidFill>
            <a:srgbClr val="EEF0F5"/>
          </a:solidFill>
          <a:ln w="12700">
            <a:solidFill>
              <a:srgbClr val="EEF0F5"/>
            </a:solidFill>
            <a:prstDash val="solid"/>
          </a:ln>
        </p:spPr>
      </p:sp>
      <p:sp>
        <p:nvSpPr>
          <p:cNvPr id="74" name="Text 58"/>
          <p:cNvSpPr txBox="1"/>
          <p:nvPr/>
        </p:nvSpPr>
        <p:spPr>
          <a:xfrm>
            <a:off x="33314640" y="17746980"/>
            <a:ext cx="8168640" cy="335280"/>
          </a:xfrm>
          <a:prstGeom prst="rect">
            <a:avLst/>
          </a:prstGeom>
          <a:noFill/>
          <a:ln/>
        </p:spPr>
        <p:txBody>
          <a:bodyPr wrap="square" lIns="0" tIns="0" rIns="0" bIns="0" rtlCol="0" anchor="t"/>
          <a:lstStyle/>
          <a:p>
            <a:pPr indent="0" marL="0">
              <a:buNone/>
            </a:pPr>
            <a:r>
              <a:rPr lang="en-US" sz="2000" b="1" spc="133" kern="0" dirty="0">
                <a:solidFill>
                  <a:srgbClr val="1F2A44"/>
                </a:solidFill>
                <a:latin typeface="Arial" pitchFamily="34" charset="0"/>
                <a:ea typeface="Arial" pitchFamily="34" charset="-122"/>
                <a:cs typeface="Arial" pitchFamily="34" charset="-120"/>
              </a:rPr>
              <a:t>SUPPLEMENT</a:t>
            </a:r>
            <a:endParaRPr lang="en-US" sz="2000" dirty="0"/>
          </a:p>
        </p:txBody>
      </p:sp>
      <p:sp>
        <p:nvSpPr>
          <p:cNvPr id="75" name="Text 59"/>
          <p:cNvSpPr txBox="1"/>
          <p:nvPr/>
        </p:nvSpPr>
        <p:spPr>
          <a:xfrm>
            <a:off x="33314640" y="18105120"/>
            <a:ext cx="8168640" cy="1249680"/>
          </a:xfrm>
          <a:prstGeom prst="rect">
            <a:avLst/>
          </a:prstGeom>
          <a:noFill/>
          <a:ln/>
        </p:spPr>
        <p:txBody>
          <a:bodyPr wrap="square" lIns="0" tIns="0" rIns="0" bIns="0" rtlCol="0" anchor="t"/>
          <a:lstStyle/>
          <a:p>
            <a:pPr indent="0" marL="0">
              <a:buNone/>
            </a:pPr>
            <a:r>
              <a:rPr lang="en-US" sz="2000" dirty="0">
                <a:solidFill>
                  <a:srgbClr val="1A1A1A"/>
                </a:solidFill>
                <a:latin typeface="Arial" pitchFamily="34" charset="0"/>
                <a:ea typeface="Arial" pitchFamily="34" charset="-122"/>
                <a:cs typeface="Arial" pitchFamily="34" charset="-120"/>
              </a:rPr>
              <a:t>detailed methods and the model, the model-term table, the ε4 figure, the six-arm interaction matrix, the five-panel cohort figure, per-lot tables, the full genotype table · github.com/emartin-um/ASHG2026-supplement</a:t>
            </a:r>
            <a:endParaRPr lang="en-US" sz="2000" dirty="0"/>
          </a:p>
        </p:txBody>
      </p:sp>
      <p:pic>
        <p:nvPicPr>
          <p:cNvPr id="76" name="QR supplement" descr="QR code to the public supplement at github.com/emartin-um/ASHG2026-supplement">    </p:cNvPr>
          <p:cNvPicPr>
            <a:picLocks noChangeAspect="1"/>
          </p:cNvPicPr>
          <p:nvPr/>
        </p:nvPicPr>
        <p:blipFill>
          <a:blip r:embed="rId15"/>
          <a:stretch>
            <a:fillRect/>
          </a:stretch>
        </p:blipFill>
        <p:spPr>
          <a:xfrm>
            <a:off x="41818560" y="17788890"/>
            <a:ext cx="1463040" cy="1463040"/>
          </a:xfrm>
          <a:prstGeom prst="rect">
            <a:avLst/>
          </a:prstGeom>
        </p:spPr>
      </p:pic>
      <p:sp>
        <p:nvSpPr>
          <p:cNvPr id="77" name="what this means"/>
          <p:cNvSpPr/>
          <p:nvPr/>
        </p:nvSpPr>
        <p:spPr>
          <a:xfrm>
            <a:off x="457200" y="19690080"/>
            <a:ext cx="32105600" cy="1920240"/>
          </a:xfrm>
          <a:prstGeom prst="rect">
            <a:avLst/>
          </a:prstGeom>
          <a:solidFill>
            <a:srgbClr val="1F2A44"/>
          </a:solidFill>
          <a:ln w="12700">
            <a:solidFill>
              <a:srgbClr val="1F2A44"/>
            </a:solidFill>
            <a:prstDash val="solid"/>
          </a:ln>
        </p:spPr>
      </p:sp>
      <p:sp>
        <p:nvSpPr>
          <p:cNvPr id="78" name="Text 61"/>
          <p:cNvSpPr txBox="1"/>
          <p:nvPr/>
        </p:nvSpPr>
        <p:spPr>
          <a:xfrm>
            <a:off x="822960" y="19812000"/>
            <a:ext cx="31374080" cy="1676400"/>
          </a:xfrm>
          <a:prstGeom prst="rect">
            <a:avLst/>
          </a:prstGeom>
          <a:noFill/>
          <a:ln/>
        </p:spPr>
        <p:txBody>
          <a:bodyPr wrap="square" lIns="0" tIns="0" rIns="0" bIns="0" rtlCol="0" anchor="ctr"/>
          <a:lstStyle/>
          <a:p>
            <a:pPr indent="0" marL="0">
              <a:spcAft>
                <a:spcPts val="400"/>
              </a:spcAft>
              <a:buNone/>
            </a:pPr>
            <a:r>
              <a:rPr lang="en-US" sz="1733" b="1" spc="200" kern="0" dirty="0">
                <a:solidFill>
                  <a:srgbClr val="D9DEEA"/>
                </a:solidFill>
                <a:latin typeface="Arial" pitchFamily="34" charset="0"/>
                <a:ea typeface="Arial" pitchFamily="34" charset="-122"/>
                <a:cs typeface="Arial" pitchFamily="34" charset="-120"/>
              </a:rPr>
              <a:t>WHAT THIS MEANS</a:t>
            </a:r>
            <a:endParaRPr lang="en-US" sz="1733" dirty="0"/>
          </a:p>
          <a:p>
            <a:pPr indent="0" marL="0">
              <a:spcAft>
                <a:spcPts val="533"/>
              </a:spcAft>
              <a:buNone/>
            </a:pPr>
            <a:r>
              <a:rPr lang="en-US" sz="3733" b="1" dirty="0">
                <a:solidFill>
                  <a:srgbClr val="FFFFFF"/>
                </a:solidFill>
                <a:latin typeface="Arial" pitchFamily="34" charset="0"/>
                <a:ea typeface="Arial" pitchFamily="34" charset="-122"/>
                <a:cs typeface="Arial" pitchFamily="34" charset="-120"/>
              </a:rPr>
              <a:t>Normals cross the cut-point equally in every group; clinical AD does not.</a:t>
            </a:r>
            <a:endParaRPr lang="en-US" sz="1733" dirty="0"/>
          </a:p>
          <a:p>
            <a:pPr indent="0" marL="0">
              <a:buNone/>
            </a:pPr>
            <a:r>
              <a:rPr lang="en-US" sz="2133" dirty="0">
                <a:solidFill>
                  <a:srgbClr val="D9DEEA"/>
                </a:solidFill>
                <a:latin typeface="Arial" pitchFamily="34" charset="0"/>
                <a:ea typeface="Arial" pitchFamily="34" charset="-122"/>
                <a:cs typeface="Arial" pitchFamily="34" charset="-120"/>
              </a:rPr>
              <a:t>p-tau: confirm AD with amyloid PET or CSF in every group before recalibrating the cut-point   ·   plasma Aβ42 and Aβ42/40 do not separate AD in any group   ·   a one-site population difference is a site difference until shown otherwise</a:t>
            </a:r>
            <a:endParaRPr lang="en-US" sz="1733" dirty="0"/>
          </a:p>
        </p:txBody>
      </p:sp>
      <p:sp>
        <p:nvSpPr>
          <p:cNvPr id="79" name="Text 62"/>
          <p:cNvSpPr txBox="1"/>
          <p:nvPr/>
        </p:nvSpPr>
        <p:spPr>
          <a:xfrm>
            <a:off x="33070800" y="19690080"/>
            <a:ext cx="10363200" cy="1920240"/>
          </a:xfrm>
          <a:prstGeom prst="rect">
            <a:avLst/>
          </a:prstGeom>
          <a:noFill/>
          <a:ln/>
        </p:spPr>
        <p:txBody>
          <a:bodyPr wrap="square" lIns="0" tIns="0" rIns="0" bIns="0" rtlCol="0" anchor="ctr"/>
          <a:lstStyle/>
          <a:p>
            <a:pPr indent="0" marL="0">
              <a:buNone/>
            </a:pPr>
            <a:r>
              <a:rPr lang="en-US" sz="1267" b="1" dirty="0">
                <a:solidFill>
                  <a:srgbClr val="1F2A44"/>
                </a:solidFill>
                <a:latin typeface="Arial" pitchFamily="34" charset="0"/>
                <a:ea typeface="Arial" pitchFamily="34" charset="-122"/>
                <a:cs typeface="Arial" pitchFamily="34" charset="-120"/>
              </a:rPr>
              <a:t>ACKNOWLEDGMENTS  </a:t>
            </a:r>
            <a:pPr indent="0" marL="0">
              <a:spcAft>
                <a:spcPts val="400"/>
              </a:spcAft>
              <a:buNone/>
            </a:pPr>
            <a:r>
              <a:rPr lang="en-US" sz="1267" dirty="0">
                <a:solidFill>
                  <a:srgbClr val="4A4A4A"/>
                </a:solidFill>
                <a:latin typeface="Arial" pitchFamily="34" charset="0"/>
                <a:ea typeface="Arial" pitchFamily="34" charset="-122"/>
                <a:cs typeface="Arial" pitchFamily="34" charset="-120"/>
              </a:rPr>
              <a:t>We are grateful to the individuals and families who generously participate in these studies. Contributing studies: DAWN, PeADI and PRADI. Support: NIH/NIA AG084545, AG076482, AG066767, AG072547, AG081817 and AG070864. Disclosure: nothing to disclose. Proteins are named by HGNC symbol; per-marker estimates on request.</a:t>
            </a:r>
            <a:endParaRPr lang="en-US" sz="1267" dirty="0"/>
          </a:p>
          <a:p>
            <a:pPr indent="0" marL="0">
              <a:buNone/>
            </a:pPr>
            <a:r>
              <a:rPr lang="en-US" sz="1267" b="1" dirty="0">
                <a:solidFill>
                  <a:srgbClr val="1F2A44"/>
                </a:solidFill>
                <a:latin typeface="Arial" pitchFamily="34" charset="0"/>
                <a:ea typeface="Arial" pitchFamily="34" charset="-122"/>
                <a:cs typeface="Arial" pitchFamily="34" charset="-120"/>
              </a:rPr>
              <a:t>REFERENCES  </a:t>
            </a:r>
            <a:pPr indent="0" marL="0">
              <a:buNone/>
            </a:pPr>
            <a:r>
              <a:rPr lang="en-US" sz="1267" dirty="0">
                <a:solidFill>
                  <a:srgbClr val="4A4A4A"/>
                </a:solidFill>
                <a:latin typeface="Arial" pitchFamily="34" charset="0"/>
                <a:ea typeface="Arial" pitchFamily="34" charset="-122"/>
                <a:cs typeface="Arial" pitchFamily="34" charset="-120"/>
              </a:rPr>
              <a:t>1. Griswold AJ, Rajabli F, et al. Alzheimers Dement 2025;21:e14367.  2. Sun BB, et al. Nature 2023;622:329-338.  3. Yang C, et al. Nat Commun 2025;16:7412.</a:t>
            </a:r>
            <a:endParaRPr lang="en-US" sz="126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ASHG 2026 poster, board 1003W</dc:title>
  <dc:subject>PptxGenJS Presentation</dc:subject>
  <dc:creator>Eden R. Martin</dc:creator>
  <cp:lastModifiedBy>Eden R. Martin</cp:lastModifiedBy>
  <cp:revision>1</cp:revision>
  <dcterms:created xsi:type="dcterms:W3CDTF">2026-10-15T21:18:51Z</dcterms:created>
  <dcterms:modified xsi:type="dcterms:W3CDTF">2026-10-15T21:18:51Z</dcterms:modified>
</cp:coreProperties>
</file>