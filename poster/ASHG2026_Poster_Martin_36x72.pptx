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1945600"/>
  <p:notesSz cx="219456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ASHG 2026, Montréal. Board 1003W, Wednesday 21 Oct, 2:30 to 4:30 PM; set up 9:30 to 10:00 AM; down by 4:30. Canvas 24 x 48 in: print at 150% for 36 x 72 in.
30 SECONDS. The question: when a blood biomarker reads differently in two populations, is that disease, ancestry, or where the sample was collected, and does it change the test? Three answers. Baselines differ by group for 68 of 126 proteins; the 49 African vs HI-WH differences in cognitively normal adults hold in both reagent lots, and the cohort's own genotypes account for CHIT1 and part of IL6R. The AD signal mostly holds: p-tau rises with AD in every group, and one BD-pTau-217 cut flags the same share of normals everywhere, with fewer clinical AD above it at most African sites. And once site is in the model, few regional differences remain: 10 Andean vs Caribbean, 5 East vs West Africa.
2 MINUTES. Who and how (10 s): 4,273 participants, 22 sites, 50 countries of birth, four groups, two reagent lots. Site and assay run are random effects; log2 reads and a blood-cell score are covariates; on runs 1332 and 1407 half of each plate's offset in the pooled-plasma control is removed. Each lot is fitted alone because the reagent changed between lots. No single term moves the 49 by more than a median 0.06 log2; site matters most. Section 1 (30 s): 49 proteins differ between African and HI-WH cognitively normal participants; all 49 have the same sign in both lots, Spearman 0.93, median size ratio 0.99; 19 are above 2-fold. Fig 3, left: the ε4 association with p-tau differs by group in the lot 1. Right: the difference this cohort's genotypes predict, beside the one we see: 78% of CHIT1, 45% of IL6R, 15% of TIMP3; ε4 predicts 104% of the APOE4 assay's, the control. 30 of the 49 have no variant in the WGS set; 9 have one that does not move the protein. Section 2 (30 s): p-tau rises with AD in every group in both lots; BD-pTau-217 rises least in African participants in both (0.26 in lot 1, 0.67 in lot 2). 12 group by diagnosis interactions; BD-pTau-217 holds in the lot 2 alone. A BD-pTau-217 cut at the HI-WH normals' 90th percentile flags 5 to 10% of normals in every group; among clinical AD, 30% of African participants are above it vs 43 to 52% in lot 1, 41% vs 62 to 75% in lot 2, and five of eight African sites sit at 31 to 44%. Clinical diagnosis, no amyloid confirmation, so part of that may be diagnosis. Section 3 (15 s): with site in the model, 10 proteins differ Andean vs Caribbean, inside one shared site, and 5 East vs West Africa; six of the 15 are immune; IL6R goes the way rs2228145 predicts. What I'd like from you: a look at the groups you work with, and whether your cut-points travel.
Q&amp;A CARDS. (1) Ancestry or site? Site is in the model and matters most: without it the African count goes from 49 to 68, HI-MU from 3 to 36. Every 2025 African sample is on run 1332; all 49 keep their sign in the lot 2, where the African samples are on many runs. (2) Is it genetic? Esther's WGS: CHIT1 78%, CCL26 70%, IL6R 45% predicted; CCL2 and CCL17 more predicted than seen (193%, 195%); MME, ARSA, NPY, CCL3, SNCA, VCAM1, ICAM1, IGF1R and SNAP25 have covered variants that move nothing. The 182 African participants with WGS are all in the lot 2 and only 11 genotyped HI-WH are there, so dose cannot be fitted inside a lot. (3) Pre-analytics, blood cells? The blood-cell score is in the model; it moves the 49 by a median 0.03 log2 and took the interactions from 17 to 12. S100A12, SAA1 and FGF2 are among the 49. (4) Fewer p-tau-positive AD at African sites: assay or diagnosis? Same share of normals above the cut; BD-pTau-217 AUC is lower in African participants (0.69 in lot 1, 0.74 in lot 2, vs 0.72 to 0.89 elsewhere); NEFL's AD effect is largest in African participants in lot 1 (0.94). No PET or CSF, so it cannot be settled here. Three African sites (KBTH, CMUL, KATH) sit with the other groups at 50 to 75%. (5) ε4 slope by group: in lot 1, pTau-217 runs from +0.10 in HI-WH (CI through 0) to +0.35 in HI-MU; in lot 2 every group's slope rises except HI-MU, which holds level (+0.35, +0.31). The group difference in slope is a lot-1 result, except BD-pTau-181 (p 0.017 in lot 2). Local ancestry at APOE from the WGS is next. (6) Why is the AD effect larger in lot 2, and which lots differ? The reagent changed between lots, so p-tau is compared within a lot and the 12 do-not-cross markers among the 126 never pool (pTau-217 and BD-pTau-217 among them; 14 on all 131). Of the 49 African differences, 5 disagree between lots (I2 &gt;= 50%: SAA1 83%, CCL26 79%, FGF2 74%, CCL4 67%, IL9 51%) and are not pooled; the other 44 agree, rho 0.93, size ratio 0.99. Lot 1 holds every African sample on run 1332, lot 2 spreads them over 13 sites and many runs, so the lot difference and the run structure are not separable. (7) 68 of 126 with three HI-WH sites? The counts are anti-conservative; a site-level permutation is pending. (8) What is the anchor? The pooled-plasma control read high on runs 1332 and 1407 (a November 2025 bay drift); half of each plate's per-target offset is removed from the study samples on those plates. It moves the 49 by a median 0.03 log2, most for CHIT1.
DETAIL OFF THE FACE. 65 of 126 differ in cognitively normal adults alone (the plan's estimand; 68 is all diagnoses). Of the 49, FDR &lt; 0.05 in the lot 1 alone 24, in the lot 2 alone 35, in both 18. AD markers among the 49: Aβ42, TARDBP and SNCA lower, GFAP higher; p-tau and NEFL are not among them. Mean ε4 dose at NCI 0.22 / 0.20 / 0.44 / 0.49 (HI-WH / HI-MU / AA / AFR). BD-pTau-217 AD minus NCI: 0.26 to 0.55 (2025), 0.67 to 1.07 (2026). NEFL rises with AD in every group except HI-MU in lot 2 (+0.36, CI from -0.02; 21 AD). Of the 12 interactions, six hold at FDR &lt; 0.05 in the lot 2 alone: ACHE, IL18, TIMP3, BD-pTau-217, IL1B, CXCL1; pTau-217 (p 5e-5) and NEFL (p 6e-4) do not. Aβ42: 7 very low lot-2 values are out (MULH 4; ABTH, COMI, UJTH 1 each; seven runs); with them out, Aβ42 separates AD in no group (AUC 0.37 to 0.61). TREM2: no AD signal in any group, not among the 49. Fig 6 is NPQ with runs 1332 / 1407 anchored. Fig 5: IL6 rests on the lot 2 (the lots disagree, I² 90%). The model-term table, the six-arm interaction matrix and the five-panel Fig 1 go to the supplement.
Figures: scripts/03_poster_figures.R -&gt; poster/figures_36x72/ (Fig 3b from scripts/15_wgs_pqtl.R). Numbers: output/poster/poster_numbers.txt, output/term_contributions/numbers.txt, output/wgs_pqtl/.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04800"/>
            <a:ext cx="36728400" cy="1737360"/>
          </a:xfrm>
          <a:prstGeom prst="rect">
            <a:avLst/>
          </a:prstGeom>
          <a:noFill/>
          <a:ln/>
        </p:spPr>
        <p:txBody>
          <a:bodyPr wrap="square" lIns="0" tIns="0" rIns="0" bIns="0" rtlCol="0" anchor="t"/>
          <a:lstStyle/>
          <a:p>
            <a:pPr indent="0" marL="0">
              <a:lnSpc>
                <a:spcPct val="92000"/>
              </a:lnSpc>
              <a:buNone/>
            </a:pPr>
            <a:r>
              <a:rPr lang="en-US" sz="6400" b="1" dirty="0">
                <a:solidFill>
                  <a:srgbClr val="1F2A44"/>
                </a:solidFill>
                <a:latin typeface="Arial" pitchFamily="34" charset="0"/>
                <a:ea typeface="Arial" pitchFamily="34" charset="-122"/>
                <a:cs typeface="Arial" pitchFamily="34" charset="-120"/>
              </a:rPr>
              <a:t>African and Indigenous American ancestry shape plasma CNS biomarker baselines within and across populations, modifying Alzheimer’s disease trajectories</a:t>
            </a:r>
            <a:endParaRPr lang="en-US" sz="6400" dirty="0"/>
          </a:p>
        </p:txBody>
      </p:sp>
      <p:sp>
        <p:nvSpPr>
          <p:cNvPr id="3" name="Text 1"/>
          <p:cNvSpPr txBox="1"/>
          <p:nvPr/>
        </p:nvSpPr>
        <p:spPr>
          <a:xfrm>
            <a:off x="457200" y="2072640"/>
            <a:ext cx="36728400" cy="914400"/>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Eden R. Martin</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Tianjie Gu</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Olabode Omotoso</a:t>
            </a:r>
            <a:pPr indent="0" marL="0">
              <a:buNone/>
            </a:pPr>
            <a:r>
              <a:rPr lang="en-US" sz="2133" baseline="30000" dirty="0">
                <a:solidFill>
                  <a:srgbClr val="1A1A1A"/>
                </a:solidFill>
                <a:latin typeface="Arial" pitchFamily="34" charset="0"/>
                <a:ea typeface="Arial" pitchFamily="34" charset="-122"/>
                <a:cs typeface="Arial" pitchFamily="34" charset="-120"/>
              </a:rPr>
              <a:t>2</a:t>
            </a:r>
            <a:pPr indent="0" marL="0">
              <a:buNone/>
            </a:pPr>
            <a:r>
              <a:rPr lang="en-US" sz="2133" dirty="0">
                <a:solidFill>
                  <a:srgbClr val="1A1A1A"/>
                </a:solidFill>
                <a:latin typeface="Arial" pitchFamily="34" charset="0"/>
                <a:ea typeface="Arial" pitchFamily="34" charset="-122"/>
                <a:cs typeface="Arial" pitchFamily="34" charset="-120"/>
              </a:rPr>
              <a:t>, Lissette Gomez</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Maryanella Illanes-Manrique</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Kazeem Sanjo Akinwande</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Patrice Whitehead</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Michael Cuccaro</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Alfred Kongnyu Njamnshi</a:t>
            </a:r>
            <a:pPr indent="0" marL="0">
              <a:buNone/>
            </a:pPr>
            <a:r>
              <a:rPr lang="en-US" sz="2133" baseline="30000" dirty="0">
                <a:solidFill>
                  <a:srgbClr val="1A1A1A"/>
                </a:solidFill>
                <a:latin typeface="Arial" pitchFamily="34" charset="0"/>
                <a:ea typeface="Arial" pitchFamily="34" charset="-122"/>
                <a:cs typeface="Arial" pitchFamily="34" charset="-120"/>
              </a:rPr>
              <a:t>5</a:t>
            </a:r>
            <a:pPr indent="0" marL="0">
              <a:buNone/>
            </a:pPr>
            <a:r>
              <a:rPr lang="en-US" sz="2133" dirty="0">
                <a:solidFill>
                  <a:srgbClr val="1A1A1A"/>
                </a:solidFill>
                <a:latin typeface="Arial" pitchFamily="34" charset="0"/>
                <a:ea typeface="Arial" pitchFamily="34" charset="-122"/>
                <a:cs typeface="Arial" pitchFamily="34" charset="-120"/>
              </a:rPr>
              <a:t>, Njideka Okubadejo</a:t>
            </a:r>
            <a:pPr indent="0" marL="0">
              <a:buNone/>
            </a:pPr>
            <a:r>
              <a:rPr lang="en-US" sz="2133" baseline="30000" dirty="0">
                <a:solidFill>
                  <a:srgbClr val="1A1A1A"/>
                </a:solidFill>
                <a:latin typeface="Arial" pitchFamily="34" charset="0"/>
                <a:ea typeface="Arial" pitchFamily="34" charset="-122"/>
                <a:cs typeface="Arial" pitchFamily="34" charset="-120"/>
              </a:rPr>
              <a:t>6</a:t>
            </a:r>
            <a:pPr indent="0" marL="0">
              <a:buNone/>
            </a:pPr>
            <a:r>
              <a:rPr lang="en-US" sz="2133" dirty="0">
                <a:solidFill>
                  <a:srgbClr val="1A1A1A"/>
                </a:solidFill>
                <a:latin typeface="Arial" pitchFamily="34" charset="0"/>
                <a:ea typeface="Arial" pitchFamily="34" charset="-122"/>
                <a:cs typeface="Arial" pitchFamily="34" charset="-120"/>
              </a:rPr>
              <a:t>, Jean Ikanga</a:t>
            </a:r>
            <a:pPr indent="0" marL="0">
              <a:buNone/>
            </a:pPr>
            <a:r>
              <a:rPr lang="en-US" sz="2133" baseline="30000" dirty="0">
                <a:solidFill>
                  <a:srgbClr val="1A1A1A"/>
                </a:solidFill>
                <a:latin typeface="Arial" pitchFamily="34" charset="0"/>
                <a:ea typeface="Arial" pitchFamily="34" charset="-122"/>
                <a:cs typeface="Arial" pitchFamily="34" charset="-120"/>
              </a:rPr>
              <a:t>7</a:t>
            </a:r>
            <a:pPr indent="0" marL="0">
              <a:buNone/>
            </a:pPr>
            <a:r>
              <a:rPr lang="en-US" sz="2133" dirty="0">
                <a:solidFill>
                  <a:srgbClr val="1A1A1A"/>
                </a:solidFill>
                <a:latin typeface="Arial" pitchFamily="34" charset="0"/>
                <a:ea typeface="Arial" pitchFamily="34" charset="-122"/>
                <a:cs typeface="Arial" pitchFamily="34" charset="-120"/>
              </a:rPr>
              <a:t>, Damas Andrea</a:t>
            </a:r>
            <a:pPr indent="0" marL="0">
              <a:buNone/>
            </a:pPr>
            <a:r>
              <a:rPr lang="en-US" sz="2133" baseline="30000" dirty="0">
                <a:solidFill>
                  <a:srgbClr val="1A1A1A"/>
                </a:solidFill>
                <a:latin typeface="Arial" pitchFamily="34" charset="0"/>
                <a:ea typeface="Arial" pitchFamily="34" charset="-122"/>
                <a:cs typeface="Arial" pitchFamily="34" charset="-120"/>
              </a:rPr>
              <a:t>8</a:t>
            </a:r>
            <a:pPr indent="0" marL="0">
              <a:buNone/>
            </a:pPr>
            <a:r>
              <a:rPr lang="en-US" sz="2133" dirty="0">
                <a:solidFill>
                  <a:srgbClr val="1A1A1A"/>
                </a:solidFill>
                <a:latin typeface="Arial" pitchFamily="34" charset="0"/>
                <a:ea typeface="Arial" pitchFamily="34" charset="-122"/>
                <a:cs typeface="Arial" pitchFamily="34" charset="-120"/>
              </a:rPr>
              <a:t>, Michelle Nichols</a:t>
            </a:r>
            <a:pPr indent="0" marL="0">
              <a:buNone/>
            </a:pPr>
            <a:r>
              <a:rPr lang="en-US" sz="2133" baseline="30000" dirty="0">
                <a:solidFill>
                  <a:srgbClr val="1A1A1A"/>
                </a:solidFill>
                <a:latin typeface="Arial" pitchFamily="34" charset="0"/>
                <a:ea typeface="Arial" pitchFamily="34" charset="-122"/>
                <a:cs typeface="Arial" pitchFamily="34" charset="-120"/>
              </a:rPr>
              <a:t>9</a:t>
            </a:r>
            <a:pPr indent="0" marL="0">
              <a:buNone/>
            </a:pPr>
            <a:r>
              <a:rPr lang="en-US" sz="2133" dirty="0">
                <a:solidFill>
                  <a:srgbClr val="1A1A1A"/>
                </a:solidFill>
                <a:latin typeface="Arial" pitchFamily="34" charset="0"/>
                <a:ea typeface="Arial" pitchFamily="34" charset="-122"/>
                <a:cs typeface="Arial" pitchFamily="34" charset="-120"/>
              </a:rPr>
              <a:t>, Olusegun Baiyewu</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Mayowa Owolabi</a:t>
            </a:r>
            <a:pPr indent="0" marL="0">
              <a:buNone/>
            </a:pPr>
            <a:r>
              <a:rPr lang="en-US" sz="2133" baseline="30000" dirty="0">
                <a:solidFill>
                  <a:srgbClr val="1A1A1A"/>
                </a:solidFill>
                <a:latin typeface="Arial" pitchFamily="34" charset="0"/>
                <a:ea typeface="Arial" pitchFamily="34" charset="-122"/>
                <a:cs typeface="Arial" pitchFamily="34" charset="-120"/>
              </a:rPr>
              <a:t>10</a:t>
            </a:r>
            <a:pPr indent="0" marL="0">
              <a:buNone/>
            </a:pPr>
            <a:r>
              <a:rPr lang="en-US" sz="2133" dirty="0">
                <a:solidFill>
                  <a:srgbClr val="1A1A1A"/>
                </a:solidFill>
                <a:latin typeface="Arial" pitchFamily="34" charset="0"/>
                <a:ea typeface="Arial" pitchFamily="34" charset="-122"/>
                <a:cs typeface="Arial" pitchFamily="34" charset="-120"/>
              </a:rPr>
              <a:t>, Rajesh Kalaria</a:t>
            </a:r>
            <a:pPr indent="0" marL="0">
              <a:buNone/>
            </a:pPr>
            <a:r>
              <a:rPr lang="en-US" sz="2133" baseline="30000" dirty="0">
                <a:solidFill>
                  <a:srgbClr val="1A1A1A"/>
                </a:solidFill>
                <a:latin typeface="Arial" pitchFamily="34" charset="0"/>
                <a:ea typeface="Arial" pitchFamily="34" charset="-122"/>
                <a:cs typeface="Arial" pitchFamily="34" charset="-120"/>
              </a:rPr>
              <a:t>11</a:t>
            </a:r>
            <a:pPr indent="0" marL="0">
              <a:buNone/>
            </a:pPr>
            <a:r>
              <a:rPr lang="en-US" sz="2133" dirty="0">
                <a:solidFill>
                  <a:srgbClr val="1A1A1A"/>
                </a:solidFill>
                <a:latin typeface="Arial" pitchFamily="34" charset="0"/>
                <a:ea typeface="Arial" pitchFamily="34" charset="-122"/>
                <a:cs typeface="Arial" pitchFamily="34" charset="-120"/>
              </a:rPr>
              <a:t>, Brian Kunkle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Jeffery 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Christiane Reitz</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Giuseppe Tosto</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William Bush</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Jonathan Haines</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Adesola Ogunniyi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Goldie Byrd</a:t>
            </a:r>
            <a:pPr indent="0" marL="0">
              <a:buNone/>
            </a:pPr>
            <a:r>
              <a:rPr lang="en-US" sz="2133" baseline="30000" dirty="0">
                <a:solidFill>
                  <a:srgbClr val="1A1A1A"/>
                </a:solidFill>
                <a:latin typeface="Arial" pitchFamily="34" charset="0"/>
                <a:ea typeface="Arial" pitchFamily="34" charset="-122"/>
                <a:cs typeface="Arial" pitchFamily="34" charset="-120"/>
              </a:rPr>
              <a:t>14</a:t>
            </a:r>
            <a:pPr indent="0" marL="0">
              <a:buNone/>
            </a:pPr>
            <a:r>
              <a:rPr lang="en-US" sz="2133" dirty="0">
                <a:solidFill>
                  <a:srgbClr val="1A1A1A"/>
                </a:solidFill>
                <a:latin typeface="Arial" pitchFamily="34" charset="0"/>
                <a:ea typeface="Arial" pitchFamily="34" charset="-122"/>
                <a:cs typeface="Arial" pitchFamily="34" charset="-120"/>
              </a:rPr>
              <a:t>, Farid Rajabli</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Rufus Akinyemi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Mario Cornejo-Olivas</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Margaret A. Pericak-Vance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Anthony Griswold</a:t>
            </a:r>
            <a:pPr indent="0" marL="0">
              <a:buNone/>
            </a:pPr>
            <a:r>
              <a:rPr lang="en-US" sz="2133" baseline="30000" dirty="0">
                <a:solidFill>
                  <a:srgbClr val="1A1A1A"/>
                </a:solidFill>
                <a:latin typeface="Arial" pitchFamily="34" charset="0"/>
                <a:ea typeface="Arial" pitchFamily="34" charset="-122"/>
                <a:cs typeface="Arial" pitchFamily="34" charset="-120"/>
              </a:rPr>
              <a:t>1</a:t>
            </a:r>
            <a:endParaRPr lang="en-US" sz="2133" dirty="0"/>
          </a:p>
        </p:txBody>
      </p:sp>
      <p:sp>
        <p:nvSpPr>
          <p:cNvPr id="4" name="Text 2"/>
          <p:cNvSpPr txBox="1"/>
          <p:nvPr/>
        </p:nvSpPr>
        <p:spPr>
          <a:xfrm>
            <a:off x="457200" y="2987040"/>
            <a:ext cx="36728400" cy="579120"/>
          </a:xfrm>
          <a:prstGeom prst="rect">
            <a:avLst/>
          </a:prstGeom>
          <a:noFill/>
          <a:ln/>
        </p:spPr>
        <p:txBody>
          <a:bodyPr wrap="square" lIns="0" tIns="0" rIns="0" bIns="0" rtlCol="0" anchor="t"/>
          <a:lstStyle/>
          <a:p>
            <a:pPr indent="0" marL="0">
              <a:buNone/>
            </a:pPr>
            <a:r>
              <a:rPr lang="en-US" sz="1333" baseline="30000" dirty="0">
                <a:solidFill>
                  <a:srgbClr val="4A4A4A"/>
                </a:solidFill>
                <a:latin typeface="Arial" pitchFamily="34" charset="0"/>
                <a:ea typeface="Arial" pitchFamily="34" charset="-122"/>
                <a:cs typeface="Arial" pitchFamily="34" charset="-120"/>
              </a:rPr>
              <a:t>1</a:t>
            </a:r>
            <a:pPr indent="0" marL="0">
              <a:buNone/>
            </a:pPr>
            <a:r>
              <a:rPr lang="en-US" sz="1333" dirty="0">
                <a:solidFill>
                  <a:srgbClr val="4A4A4A"/>
                </a:solidFill>
                <a:latin typeface="Arial" pitchFamily="34" charset="0"/>
                <a:ea typeface="Arial" pitchFamily="34" charset="-122"/>
                <a:cs typeface="Arial" pitchFamily="34" charset="-120"/>
              </a:rPr>
              <a:t> Hussman Institute for Human Genomics, University of Miami, Miami, FL, USA; </a:t>
            </a:r>
            <a:pPr indent="0" marL="0">
              <a:buNone/>
            </a:pPr>
            <a:r>
              <a:rPr lang="en-US" sz="1333" baseline="30000" dirty="0">
                <a:solidFill>
                  <a:srgbClr val="4A4A4A"/>
                </a:solidFill>
                <a:latin typeface="Arial" pitchFamily="34" charset="0"/>
                <a:ea typeface="Arial" pitchFamily="34" charset="-122"/>
                <a:cs typeface="Arial" pitchFamily="34" charset="-120"/>
              </a:rPr>
              <a:t>2</a:t>
            </a:r>
            <a:pPr indent="0" marL="0">
              <a:buNone/>
            </a:pPr>
            <a:r>
              <a:rPr lang="en-US" sz="1333" dirty="0">
                <a:solidFill>
                  <a:srgbClr val="4A4A4A"/>
                </a:solidFill>
                <a:latin typeface="Arial" pitchFamily="34" charset="0"/>
                <a:ea typeface="Arial" pitchFamily="34" charset="-122"/>
                <a:cs typeface="Arial" pitchFamily="34" charset="-120"/>
              </a:rPr>
              <a:t> Neurology,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3</a:t>
            </a:r>
            <a:pPr indent="0" marL="0">
              <a:buNone/>
            </a:pPr>
            <a:r>
              <a:rPr lang="en-US" sz="1333" dirty="0">
                <a:solidFill>
                  <a:srgbClr val="4A4A4A"/>
                </a:solidFill>
                <a:latin typeface="Arial" pitchFamily="34" charset="0"/>
                <a:ea typeface="Arial" pitchFamily="34" charset="-122"/>
                <a:cs typeface="Arial" pitchFamily="34" charset="-120"/>
              </a:rPr>
              <a:t> Instituto Nacional de Ciencias Neurológicas, Lima, Peru; </a:t>
            </a:r>
            <a:pPr indent="0" marL="0">
              <a:buNone/>
            </a:pPr>
            <a:r>
              <a:rPr lang="en-US" sz="1333" baseline="30000" dirty="0">
                <a:solidFill>
                  <a:srgbClr val="4A4A4A"/>
                </a:solidFill>
                <a:latin typeface="Arial" pitchFamily="34" charset="0"/>
                <a:ea typeface="Arial" pitchFamily="34" charset="-122"/>
                <a:cs typeface="Arial" pitchFamily="34" charset="-120"/>
              </a:rPr>
              <a:t>4</a:t>
            </a:r>
            <a:pPr indent="0" marL="0">
              <a:buNone/>
            </a:pPr>
            <a:r>
              <a:rPr lang="en-US" sz="1333" dirty="0">
                <a:solidFill>
                  <a:srgbClr val="4A4A4A"/>
                </a:solidFill>
                <a:latin typeface="Arial" pitchFamily="34" charset="0"/>
                <a:ea typeface="Arial" pitchFamily="34" charset="-122"/>
                <a:cs typeface="Arial" pitchFamily="34" charset="-120"/>
              </a:rPr>
              <a:t> Institute for Advanced Medical Research and Training,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5</a:t>
            </a:r>
            <a:pPr indent="0" marL="0">
              <a:buNone/>
            </a:pPr>
            <a:r>
              <a:rPr lang="en-US" sz="1333" dirty="0">
                <a:solidFill>
                  <a:srgbClr val="4A4A4A"/>
                </a:solidFill>
                <a:latin typeface="Arial" pitchFamily="34" charset="0"/>
                <a:ea typeface="Arial" pitchFamily="34" charset="-122"/>
                <a:cs typeface="Arial" pitchFamily="34" charset="-120"/>
              </a:rPr>
              <a:t> Brain Research Africa Initiative, Yaoundé, Cameroon; </a:t>
            </a:r>
            <a:pPr indent="0" marL="0">
              <a:buNone/>
            </a:pPr>
            <a:r>
              <a:rPr lang="en-US" sz="1333" baseline="30000" dirty="0">
                <a:solidFill>
                  <a:srgbClr val="4A4A4A"/>
                </a:solidFill>
                <a:latin typeface="Arial" pitchFamily="34" charset="0"/>
                <a:ea typeface="Arial" pitchFamily="34" charset="-122"/>
                <a:cs typeface="Arial" pitchFamily="34" charset="-120"/>
              </a:rPr>
              <a:t>6</a:t>
            </a:r>
            <a:pPr indent="0" marL="0">
              <a:buNone/>
            </a:pPr>
            <a:r>
              <a:rPr lang="en-US" sz="1333" dirty="0">
                <a:solidFill>
                  <a:srgbClr val="4A4A4A"/>
                </a:solidFill>
                <a:latin typeface="Arial" pitchFamily="34" charset="0"/>
                <a:ea typeface="Arial" pitchFamily="34" charset="-122"/>
                <a:cs typeface="Arial" pitchFamily="34" charset="-120"/>
              </a:rPr>
              <a:t> Medicine, University of Lagos, Nigeria; </a:t>
            </a:r>
            <a:pPr indent="0" marL="0">
              <a:buNone/>
            </a:pPr>
            <a:r>
              <a:rPr lang="en-US" sz="1333" baseline="30000" dirty="0">
                <a:solidFill>
                  <a:srgbClr val="4A4A4A"/>
                </a:solidFill>
                <a:latin typeface="Arial" pitchFamily="34" charset="0"/>
                <a:ea typeface="Arial" pitchFamily="34" charset="-122"/>
                <a:cs typeface="Arial" pitchFamily="34" charset="-120"/>
              </a:rPr>
              <a:t>7</a:t>
            </a:r>
            <a:pPr indent="0" marL="0">
              <a:buNone/>
            </a:pPr>
            <a:r>
              <a:rPr lang="en-US" sz="1333" dirty="0">
                <a:solidFill>
                  <a:srgbClr val="4A4A4A"/>
                </a:solidFill>
                <a:latin typeface="Arial" pitchFamily="34" charset="0"/>
                <a:ea typeface="Arial" pitchFamily="34" charset="-122"/>
                <a:cs typeface="Arial" pitchFamily="34" charset="-120"/>
              </a:rPr>
              <a:t> Psychiatry, University of Kinshasa, DRC; </a:t>
            </a:r>
            <a:pPr indent="0" marL="0">
              <a:buNone/>
            </a:pPr>
            <a:r>
              <a:rPr lang="en-US" sz="1333" baseline="30000" dirty="0">
                <a:solidFill>
                  <a:srgbClr val="4A4A4A"/>
                </a:solidFill>
                <a:latin typeface="Arial" pitchFamily="34" charset="0"/>
                <a:ea typeface="Arial" pitchFamily="34" charset="-122"/>
                <a:cs typeface="Arial" pitchFamily="34" charset="-120"/>
              </a:rPr>
              <a:t>8</a:t>
            </a:r>
            <a:pPr indent="0" marL="0">
              <a:buNone/>
            </a:pPr>
            <a:r>
              <a:rPr lang="en-US" sz="1333" dirty="0">
                <a:solidFill>
                  <a:srgbClr val="4A4A4A"/>
                </a:solidFill>
                <a:latin typeface="Arial" pitchFamily="34" charset="0"/>
                <a:ea typeface="Arial" pitchFamily="34" charset="-122"/>
                <a:cs typeface="Arial" pitchFamily="34" charset="-120"/>
              </a:rPr>
              <a:t> Psychiatry, Mirembe National Mental Hospital, Dodoma, Tanzania; </a:t>
            </a:r>
            <a:pPr indent="0" marL="0">
              <a:buNone/>
            </a:pPr>
            <a:r>
              <a:rPr lang="en-US" sz="1333" baseline="30000" dirty="0">
                <a:solidFill>
                  <a:srgbClr val="4A4A4A"/>
                </a:solidFill>
                <a:latin typeface="Arial" pitchFamily="34" charset="0"/>
                <a:ea typeface="Arial" pitchFamily="34" charset="-122"/>
                <a:cs typeface="Arial" pitchFamily="34" charset="-120"/>
              </a:rPr>
              <a:t>9</a:t>
            </a:r>
            <a:pPr indent="0" marL="0">
              <a:buNone/>
            </a:pPr>
            <a:r>
              <a:rPr lang="en-US" sz="1333" dirty="0">
                <a:solidFill>
                  <a:srgbClr val="4A4A4A"/>
                </a:solidFill>
                <a:latin typeface="Arial" pitchFamily="34" charset="0"/>
                <a:ea typeface="Arial" pitchFamily="34" charset="-122"/>
                <a:cs typeface="Arial" pitchFamily="34" charset="-120"/>
              </a:rPr>
              <a:t> Health Sciences and Rehabilitation, Medical University of South Carolina, Charleston, SC, USA; </a:t>
            </a:r>
            <a:pPr indent="0" marL="0">
              <a:buNone/>
            </a:pPr>
            <a:r>
              <a:rPr lang="en-US" sz="1333" baseline="30000" dirty="0">
                <a:solidFill>
                  <a:srgbClr val="4A4A4A"/>
                </a:solidFill>
                <a:latin typeface="Arial" pitchFamily="34" charset="0"/>
                <a:ea typeface="Arial" pitchFamily="34" charset="-122"/>
                <a:cs typeface="Arial" pitchFamily="34" charset="-120"/>
              </a:rPr>
              <a:t>10</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11</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Newcastle University, UK; </a:t>
            </a:r>
            <a:pPr indent="0" marL="0">
              <a:buNone/>
            </a:pPr>
            <a:r>
              <a:rPr lang="en-US" sz="1333" baseline="30000" dirty="0">
                <a:solidFill>
                  <a:srgbClr val="4A4A4A"/>
                </a:solidFill>
                <a:latin typeface="Arial" pitchFamily="34" charset="0"/>
                <a:ea typeface="Arial" pitchFamily="34" charset="-122"/>
                <a:cs typeface="Arial" pitchFamily="34" charset="-120"/>
              </a:rPr>
              <a:t>12</a:t>
            </a:r>
            <a:pPr indent="0" marL="0">
              <a:buNone/>
            </a:pPr>
            <a:r>
              <a:rPr lang="en-US" sz="1333" dirty="0">
                <a:solidFill>
                  <a:srgbClr val="4A4A4A"/>
                </a:solidFill>
                <a:latin typeface="Arial" pitchFamily="34" charset="0"/>
                <a:ea typeface="Arial" pitchFamily="34" charset="-122"/>
                <a:cs typeface="Arial" pitchFamily="34" charset="-120"/>
              </a:rPr>
              <a:t> Vagelos College of Physicians and Surgeons, Columbia University, New York, NY, USA; </a:t>
            </a:r>
            <a:pPr indent="0" marL="0">
              <a:buNone/>
            </a:pPr>
            <a:r>
              <a:rPr lang="en-US" sz="1333" baseline="30000" dirty="0">
                <a:solidFill>
                  <a:srgbClr val="4A4A4A"/>
                </a:solidFill>
                <a:latin typeface="Arial" pitchFamily="34" charset="0"/>
                <a:ea typeface="Arial" pitchFamily="34" charset="-122"/>
                <a:cs typeface="Arial" pitchFamily="34" charset="-120"/>
              </a:rPr>
              <a:t>13</a:t>
            </a:r>
            <a:pPr indent="0" marL="0">
              <a:buNone/>
            </a:pPr>
            <a:r>
              <a:rPr lang="en-US" sz="1333" dirty="0">
                <a:solidFill>
                  <a:srgbClr val="4A4A4A"/>
                </a:solidFill>
                <a:latin typeface="Arial" pitchFamily="34" charset="0"/>
                <a:ea typeface="Arial" pitchFamily="34" charset="-122"/>
                <a:cs typeface="Arial" pitchFamily="34" charset="-120"/>
              </a:rPr>
              <a:t> Population and Quantitative Health Sciences, Case Western Reserve University, Cleveland, OH, USA; </a:t>
            </a:r>
            <a:pPr indent="0" marL="0">
              <a:buNone/>
            </a:pPr>
            <a:r>
              <a:rPr lang="en-US" sz="1333" baseline="30000" dirty="0">
                <a:solidFill>
                  <a:srgbClr val="4A4A4A"/>
                </a:solidFill>
                <a:latin typeface="Arial" pitchFamily="34" charset="0"/>
                <a:ea typeface="Arial" pitchFamily="34" charset="-122"/>
                <a:cs typeface="Arial" pitchFamily="34" charset="-120"/>
              </a:rPr>
              <a:t>14</a:t>
            </a:r>
            <a:pPr indent="0" marL="0">
              <a:buNone/>
            </a:pPr>
            <a:r>
              <a:rPr lang="en-US" sz="1333" dirty="0">
                <a:solidFill>
                  <a:srgbClr val="4A4A4A"/>
                </a:solidFill>
                <a:latin typeface="Arial" pitchFamily="34" charset="0"/>
                <a:ea typeface="Arial" pitchFamily="34" charset="-122"/>
                <a:cs typeface="Arial" pitchFamily="34" charset="-120"/>
              </a:rPr>
              <a:t> Biostatistics and Data Science, Wake Forest School of Medicine, Winston-Salem, NC, USA</a:t>
            </a:r>
            <a:endParaRPr lang="en-US" sz="1333" dirty="0"/>
          </a:p>
        </p:txBody>
      </p:sp>
      <p:sp>
        <p:nvSpPr>
          <p:cNvPr id="5" name="DAWN chip"/>
          <p:cNvSpPr/>
          <p:nvPr/>
        </p:nvSpPr>
        <p:spPr>
          <a:xfrm>
            <a:off x="37551360" y="304800"/>
            <a:ext cx="1645920" cy="518160"/>
          </a:xfrm>
          <a:prstGeom prst="rect">
            <a:avLst/>
          </a:prstGeom>
          <a:solidFill>
            <a:srgbClr val="1F2A44"/>
          </a:solidFill>
          <a:ln w="12700">
            <a:solidFill>
              <a:srgbClr val="1F2A44"/>
            </a:solidFill>
            <a:prstDash val="solid"/>
          </a:ln>
        </p:spPr>
      </p:sp>
      <p:pic>
        <p:nvPicPr>
          <p:cNvPr id="6" name="logo dawn_white" descr="DAWN study">    </p:cNvPr>
          <p:cNvPicPr>
            <a:picLocks noChangeAspect="1"/>
          </p:cNvPicPr>
          <p:nvPr/>
        </p:nvPicPr>
        <p:blipFill>
          <a:blip r:embed="rId1"/>
          <a:stretch>
            <a:fillRect/>
          </a:stretch>
        </p:blipFill>
        <p:spPr>
          <a:xfrm>
            <a:off x="37722048" y="381000"/>
            <a:ext cx="1305251" cy="365760"/>
          </a:xfrm>
          <a:prstGeom prst="rect">
            <a:avLst/>
          </a:prstGeom>
        </p:spPr>
      </p:pic>
      <p:pic>
        <p:nvPicPr>
          <p:cNvPr id="7" name="logo nih" descr="National Institutes of Health">    </p:cNvPr>
          <p:cNvPicPr>
            <a:picLocks noChangeAspect="1"/>
          </p:cNvPicPr>
          <p:nvPr/>
        </p:nvPicPr>
        <p:blipFill>
          <a:blip r:embed="rId2"/>
          <a:stretch>
            <a:fillRect/>
          </a:stretch>
        </p:blipFill>
        <p:spPr>
          <a:xfrm>
            <a:off x="39441120" y="320040"/>
            <a:ext cx="770534" cy="487680"/>
          </a:xfrm>
          <a:prstGeom prst="rect">
            <a:avLst/>
          </a:prstGeom>
        </p:spPr>
      </p:pic>
      <p:pic>
        <p:nvPicPr>
          <p:cNvPr id="8" name="logo afdc" descr="African Dementia Consortium">    </p:cNvPr>
          <p:cNvPicPr>
            <a:picLocks noChangeAspect="1"/>
          </p:cNvPicPr>
          <p:nvPr/>
        </p:nvPicPr>
        <p:blipFill>
          <a:blip r:embed="rId3"/>
          <a:stretch>
            <a:fillRect/>
          </a:stretch>
        </p:blipFill>
        <p:spPr>
          <a:xfrm>
            <a:off x="40455494" y="374904"/>
            <a:ext cx="1052137" cy="377952"/>
          </a:xfrm>
          <a:prstGeom prst="rect">
            <a:avLst/>
          </a:prstGeom>
        </p:spPr>
      </p:pic>
      <p:pic>
        <p:nvPicPr>
          <p:cNvPr id="9" name="logo hihg" descr="University of Miami Miller School of Medicine, Hussman Institute for Human Genomics">    </p:cNvPr>
          <p:cNvPicPr>
            <a:picLocks noChangeAspect="1"/>
          </p:cNvPicPr>
          <p:nvPr/>
        </p:nvPicPr>
        <p:blipFill>
          <a:blip r:embed="rId4"/>
          <a:stretch>
            <a:fillRect/>
          </a:stretch>
        </p:blipFill>
        <p:spPr>
          <a:xfrm>
            <a:off x="41751471" y="320040"/>
            <a:ext cx="1627819" cy="487680"/>
          </a:xfrm>
          <a:prstGeom prst="rect">
            <a:avLst/>
          </a:prstGeom>
        </p:spPr>
      </p:pic>
      <p:pic>
        <p:nvPicPr>
          <p:cNvPr id="10" name="logo case_western" descr="Case Western Reserve University">    </p:cNvPr>
          <p:cNvPicPr>
            <a:picLocks noChangeAspect="1"/>
          </p:cNvPicPr>
          <p:nvPr/>
        </p:nvPicPr>
        <p:blipFill>
          <a:blip r:embed="rId5"/>
          <a:stretch>
            <a:fillRect/>
          </a:stretch>
        </p:blipFill>
        <p:spPr>
          <a:xfrm>
            <a:off x="37551360" y="1021080"/>
            <a:ext cx="1910687" cy="182880"/>
          </a:xfrm>
          <a:prstGeom prst="rect">
            <a:avLst/>
          </a:prstGeom>
        </p:spPr>
      </p:pic>
      <p:pic>
        <p:nvPicPr>
          <p:cNvPr id="11" name="logo wake_forest" descr="Wake Forest University">    </p:cNvPr>
          <p:cNvPicPr>
            <a:picLocks noChangeAspect="1"/>
          </p:cNvPicPr>
          <p:nvPr/>
        </p:nvPicPr>
        <p:blipFill>
          <a:blip r:embed="rId6"/>
          <a:stretch>
            <a:fillRect/>
          </a:stretch>
        </p:blipFill>
        <p:spPr>
          <a:xfrm>
            <a:off x="39766847" y="972312"/>
            <a:ext cx="1422400" cy="280416"/>
          </a:xfrm>
          <a:prstGeom prst="rect">
            <a:avLst/>
          </a:prstGeom>
        </p:spPr>
      </p:pic>
      <p:pic>
        <p:nvPicPr>
          <p:cNvPr id="12" name="logo columbia" descr="Columbia University">    </p:cNvPr>
          <p:cNvPicPr>
            <a:picLocks noChangeAspect="1"/>
          </p:cNvPicPr>
          <p:nvPr/>
        </p:nvPicPr>
        <p:blipFill>
          <a:blip r:embed="rId7"/>
          <a:stretch>
            <a:fillRect/>
          </a:stretch>
        </p:blipFill>
        <p:spPr>
          <a:xfrm>
            <a:off x="41494047" y="990600"/>
            <a:ext cx="1642132" cy="243840"/>
          </a:xfrm>
          <a:prstGeom prst="rect">
            <a:avLst/>
          </a:prstGeom>
        </p:spPr>
      </p:pic>
      <p:sp>
        <p:nvSpPr>
          <p:cNvPr id="13" name="Text 4"/>
          <p:cNvSpPr txBox="1"/>
          <p:nvPr/>
        </p:nvSpPr>
        <p:spPr>
          <a:xfrm>
            <a:off x="37551360" y="1402080"/>
            <a:ext cx="5882640" cy="274320"/>
          </a:xfrm>
          <a:prstGeom prst="rect">
            <a:avLst/>
          </a:prstGeom>
          <a:noFill/>
          <a:ln/>
        </p:spPr>
        <p:txBody>
          <a:bodyPr wrap="square" lIns="0" tIns="0" rIns="0" bIns="0" rtlCol="0" anchor="t"/>
          <a:lstStyle/>
          <a:p>
            <a:pPr algn="ctr" indent="0" marL="0">
              <a:buNone/>
            </a:pPr>
            <a:r>
              <a:rPr lang="en-US" sz="1600" b="1" dirty="0">
                <a:solidFill>
                  <a:srgbClr val="1F2A44"/>
                </a:solidFill>
                <a:latin typeface="Arial" pitchFamily="34" charset="0"/>
                <a:ea typeface="Arial" pitchFamily="34" charset="-122"/>
                <a:cs typeface="Arial" pitchFamily="34" charset="-120"/>
              </a:rPr>
              <a:t>Board 1003W</a:t>
            </a:r>
            <a:pPr algn="ctr" indent="0" marL="0">
              <a:buNone/>
            </a:pPr>
            <a:r>
              <a:rPr lang="en-US" sz="1600" dirty="0">
                <a:solidFill>
                  <a:srgbClr val="1A1A1A"/>
                </a:solidFill>
                <a:latin typeface="Arial" pitchFamily="34" charset="0"/>
                <a:ea typeface="Arial" pitchFamily="34" charset="-122"/>
                <a:cs typeface="Arial" pitchFamily="34" charset="-120"/>
              </a:rPr>
              <a:t>  ·  emartin1@miami.edu</a:t>
            </a:r>
            <a:endParaRPr lang="en-US" sz="1600" dirty="0"/>
          </a:p>
        </p:txBody>
      </p:sp>
      <p:sp>
        <p:nvSpPr>
          <p:cNvPr id="14" name="answer band"/>
          <p:cNvSpPr/>
          <p:nvPr/>
        </p:nvSpPr>
        <p:spPr>
          <a:xfrm>
            <a:off x="457200" y="3596640"/>
            <a:ext cx="42976800" cy="2164080"/>
          </a:xfrm>
          <a:prstGeom prst="rect">
            <a:avLst/>
          </a:prstGeom>
          <a:solidFill>
            <a:srgbClr val="1F2A44"/>
          </a:solidFill>
          <a:ln w="12700">
            <a:solidFill>
              <a:srgbClr val="1F2A44"/>
            </a:solidFill>
            <a:prstDash val="solid"/>
          </a:ln>
        </p:spPr>
      </p:sp>
      <p:sp>
        <p:nvSpPr>
          <p:cNvPr id="15" name="Text 6"/>
          <p:cNvSpPr txBox="1"/>
          <p:nvPr/>
        </p:nvSpPr>
        <p:spPr>
          <a:xfrm>
            <a:off x="731520" y="3779520"/>
            <a:ext cx="10017760" cy="1798320"/>
          </a:xfrm>
          <a:prstGeom prst="rect">
            <a:avLst/>
          </a:prstGeom>
          <a:noFill/>
          <a:ln/>
        </p:spPr>
        <p:txBody>
          <a:bodyPr wrap="square" lIns="0" tIns="0" rIns="0" bIns="0" rtlCol="0" anchor="ctr"/>
          <a:lstStyle/>
          <a:p>
            <a:pPr indent="0" marL="0">
              <a:spcAft>
                <a:spcPts val="667"/>
              </a:spcAft>
              <a:buNone/>
            </a:pPr>
            <a:r>
              <a:rPr lang="en-US" sz="1733" b="1" spc="200" kern="0" dirty="0">
                <a:solidFill>
                  <a:srgbClr val="D9DEEA"/>
                </a:solidFill>
                <a:latin typeface="Arial" pitchFamily="34" charset="0"/>
                <a:ea typeface="Arial" pitchFamily="34" charset="-122"/>
                <a:cs typeface="Arial" pitchFamily="34" charset="-120"/>
              </a:rPr>
              <a:t>THE QUESTION</a:t>
            </a:r>
            <a:endParaRPr lang="en-US" sz="1733" dirty="0"/>
          </a:p>
          <a:p>
            <a:pPr indent="0" marL="0">
              <a:buNone/>
            </a:pPr>
            <a:r>
              <a:rPr lang="en-US" sz="2267" dirty="0">
                <a:solidFill>
                  <a:srgbClr val="FFFFFF"/>
                </a:solidFill>
                <a:latin typeface="Arial" pitchFamily="34" charset="0"/>
                <a:ea typeface="Arial" pitchFamily="34" charset="-122"/>
                <a:cs typeface="Arial" pitchFamily="34" charset="-120"/>
              </a:rPr>
              <a:t>A biomarker reads differently in two populations: disease, ancestry, or recruitment site? Does it change the test?</a:t>
            </a:r>
            <a:endParaRPr lang="en-US" sz="1733" dirty="0"/>
          </a:p>
        </p:txBody>
      </p:sp>
      <p:sp>
        <p:nvSpPr>
          <p:cNvPr id="16" name="Shape 7"/>
          <p:cNvSpPr/>
          <p:nvPr/>
        </p:nvSpPr>
        <p:spPr>
          <a:xfrm>
            <a:off x="11023600" y="3810000"/>
            <a:ext cx="0" cy="1737360"/>
          </a:xfrm>
          <a:prstGeom prst="line">
            <a:avLst/>
          </a:prstGeom>
          <a:noFill/>
          <a:ln w="16933">
            <a:solidFill>
              <a:srgbClr val="D9DEEA"/>
            </a:solidFill>
            <a:prstDash val="solid"/>
          </a:ln>
        </p:spPr>
      </p:sp>
      <p:sp>
        <p:nvSpPr>
          <p:cNvPr id="17" name="Text 8"/>
          <p:cNvSpPr txBox="1"/>
          <p:nvPr/>
        </p:nvSpPr>
        <p:spPr>
          <a:xfrm>
            <a:off x="11328400" y="3779520"/>
            <a:ext cx="6096000" cy="274320"/>
          </a:xfrm>
          <a:prstGeom prst="rect">
            <a:avLst/>
          </a:prstGeom>
          <a:noFill/>
          <a:ln/>
        </p:spPr>
        <p:txBody>
          <a:bodyPr wrap="square" lIns="0" tIns="0" rIns="0" bIns="0" rtlCol="0" anchor="t"/>
          <a:lstStyle/>
          <a:p>
            <a:pPr indent="0" marL="0">
              <a:buNone/>
            </a:pPr>
            <a:r>
              <a:rPr lang="en-US" sz="1733" b="1" spc="200" kern="0" dirty="0">
                <a:solidFill>
                  <a:srgbClr val="D9DEEA"/>
                </a:solidFill>
                <a:latin typeface="Arial" pitchFamily="34" charset="0"/>
                <a:ea typeface="Arial" pitchFamily="34" charset="-122"/>
                <a:cs typeface="Arial" pitchFamily="34" charset="-120"/>
              </a:rPr>
              <a:t>THE ANSWER</a:t>
            </a:r>
            <a:endParaRPr lang="en-US" sz="1733" dirty="0"/>
          </a:p>
        </p:txBody>
      </p:sp>
      <p:sp>
        <p:nvSpPr>
          <p:cNvPr id="18" name="Text 9"/>
          <p:cNvSpPr txBox="1"/>
          <p:nvPr/>
        </p:nvSpPr>
        <p:spPr>
          <a:xfrm>
            <a:off x="113284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moves the baseline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68 of 126 proteins differ; African vs HI-WH 49, all the same sign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 known variant accounts for CHIT1 (78%) and part of IL6R (45%)</a:t>
            </a:r>
            <a:endParaRPr lang="en-US" sz="3067" dirty="0"/>
          </a:p>
        </p:txBody>
      </p:sp>
      <p:sp>
        <p:nvSpPr>
          <p:cNvPr id="19" name="Text 10"/>
          <p:cNvSpPr txBox="1"/>
          <p:nvPr/>
        </p:nvSpPr>
        <p:spPr>
          <a:xfrm>
            <a:off x="221996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rarely moves the AD signal</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p-tau rises with AD in every group,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one BD-pTau-217 cut: same share of normals above it, fewer clinical AD at most African sites</a:t>
            </a:r>
            <a:endParaRPr lang="en-US" sz="3067" dirty="0"/>
          </a:p>
        </p:txBody>
      </p:sp>
      <p:sp>
        <p:nvSpPr>
          <p:cNvPr id="20" name="Text 11"/>
          <p:cNvSpPr txBox="1"/>
          <p:nvPr/>
        </p:nvSpPr>
        <p:spPr>
          <a:xfrm>
            <a:off x="330708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Few regional differences survive site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Andean vs Caribbean 10; East vs West Africa 5</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 of the 15 immune</a:t>
            </a:r>
            <a:endParaRPr lang="en-US" sz="3067" dirty="0"/>
          </a:p>
        </p:txBody>
      </p:sp>
      <p:sp>
        <p:nvSpPr>
          <p:cNvPr id="21" name="Text 12"/>
          <p:cNvSpPr txBox="1"/>
          <p:nvPr/>
        </p:nvSpPr>
        <p:spPr>
          <a:xfrm>
            <a:off x="4572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WHO AND HOW</a:t>
            </a:r>
            <a:endParaRPr lang="en-US" sz="3333" dirty="0"/>
          </a:p>
        </p:txBody>
      </p:sp>
      <p:sp>
        <p:nvSpPr>
          <p:cNvPr id="22" name="Shape 13"/>
          <p:cNvSpPr/>
          <p:nvPr/>
        </p:nvSpPr>
        <p:spPr>
          <a:xfrm>
            <a:off x="457200" y="6365748"/>
            <a:ext cx="10363200" cy="0"/>
          </a:xfrm>
          <a:prstGeom prst="line">
            <a:avLst/>
          </a:prstGeom>
          <a:noFill/>
          <a:ln w="50800">
            <a:solidFill>
              <a:srgbClr val="1F2A44"/>
            </a:solidFill>
            <a:prstDash val="solid"/>
          </a:ln>
        </p:spPr>
      </p:sp>
      <p:sp>
        <p:nvSpPr>
          <p:cNvPr id="23" name="Text 14"/>
          <p:cNvSpPr txBox="1"/>
          <p:nvPr/>
        </p:nvSpPr>
        <p:spPr>
          <a:xfrm>
            <a:off x="4572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4,273</a:t>
            </a:r>
            <a:endParaRPr lang="en-US" sz="4400" dirty="0"/>
          </a:p>
        </p:txBody>
      </p:sp>
      <p:sp>
        <p:nvSpPr>
          <p:cNvPr id="24" name="Text 15"/>
          <p:cNvSpPr txBox="1"/>
          <p:nvPr/>
        </p:nvSpPr>
        <p:spPr>
          <a:xfrm>
            <a:off x="4572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participants</a:t>
            </a:r>
            <a:endParaRPr lang="en-US" sz="1600" dirty="0"/>
          </a:p>
        </p:txBody>
      </p:sp>
      <p:sp>
        <p:nvSpPr>
          <p:cNvPr id="25" name="Text 16"/>
          <p:cNvSpPr txBox="1"/>
          <p:nvPr/>
        </p:nvSpPr>
        <p:spPr>
          <a:xfrm>
            <a:off x="30480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22</a:t>
            </a:r>
            <a:endParaRPr lang="en-US" sz="4400" dirty="0"/>
          </a:p>
        </p:txBody>
      </p:sp>
      <p:sp>
        <p:nvSpPr>
          <p:cNvPr id="26" name="Text 17"/>
          <p:cNvSpPr txBox="1"/>
          <p:nvPr/>
        </p:nvSpPr>
        <p:spPr>
          <a:xfrm>
            <a:off x="30480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sites</a:t>
            </a:r>
            <a:endParaRPr lang="en-US" sz="1600" dirty="0"/>
          </a:p>
        </p:txBody>
      </p:sp>
      <p:sp>
        <p:nvSpPr>
          <p:cNvPr id="27" name="Text 18"/>
          <p:cNvSpPr txBox="1"/>
          <p:nvPr/>
        </p:nvSpPr>
        <p:spPr>
          <a:xfrm>
            <a:off x="56388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50</a:t>
            </a:r>
            <a:endParaRPr lang="en-US" sz="4400" dirty="0"/>
          </a:p>
        </p:txBody>
      </p:sp>
      <p:sp>
        <p:nvSpPr>
          <p:cNvPr id="28" name="Text 19"/>
          <p:cNvSpPr txBox="1"/>
          <p:nvPr/>
        </p:nvSpPr>
        <p:spPr>
          <a:xfrm>
            <a:off x="56388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countries of birth</a:t>
            </a:r>
            <a:endParaRPr lang="en-US" sz="1600" dirty="0"/>
          </a:p>
        </p:txBody>
      </p:sp>
      <p:sp>
        <p:nvSpPr>
          <p:cNvPr id="29" name="Text 20"/>
          <p:cNvSpPr txBox="1"/>
          <p:nvPr/>
        </p:nvSpPr>
        <p:spPr>
          <a:xfrm>
            <a:off x="82296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126</a:t>
            </a:r>
            <a:endParaRPr lang="en-US" sz="4400" dirty="0"/>
          </a:p>
        </p:txBody>
      </p:sp>
      <p:sp>
        <p:nvSpPr>
          <p:cNvPr id="30" name="Text 21"/>
          <p:cNvSpPr txBox="1"/>
          <p:nvPr/>
        </p:nvSpPr>
        <p:spPr>
          <a:xfrm>
            <a:off x="82296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plasma proteins</a:t>
            </a:r>
            <a:endParaRPr lang="en-US" sz="1600" dirty="0"/>
          </a:p>
        </p:txBody>
      </p:sp>
      <p:pic>
        <p:nvPicPr>
          <p:cNvPr id="31" name="fig1_cohort" descr="Three panels by ancestry group: participants by clinical diagnosis (616 HI-WH, 998 HI-MU, 1,669 AA, 990 African); birthplace as a percent of each group (most HI-WH and HI-MU born in the Caribbean, every African participant in Africa); participants by recruitment place, US sites by state, Peru, and African sites by country.">    </p:cNvPr>
          <p:cNvPicPr>
            <a:picLocks noChangeAspect="1"/>
          </p:cNvPicPr>
          <p:nvPr/>
        </p:nvPicPr>
        <p:blipFill>
          <a:blip r:embed="rId8"/>
          <a:stretch>
            <a:fillRect/>
          </a:stretch>
        </p:blipFill>
        <p:spPr>
          <a:xfrm>
            <a:off x="457200" y="7670292"/>
            <a:ext cx="10363200" cy="3779520"/>
          </a:xfrm>
          <a:prstGeom prst="rect">
            <a:avLst/>
          </a:prstGeom>
        </p:spPr>
      </p:pic>
      <p:sp>
        <p:nvSpPr>
          <p:cNvPr id="32" name="Text 22"/>
          <p:cNvSpPr txBox="1"/>
          <p:nvPr/>
        </p:nvSpPr>
        <p:spPr>
          <a:xfrm>
            <a:off x="457200" y="11449812"/>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female 72 / 74 / 79 / 56%; median age 73 / 71 / 71 / 72 (HI-WH / HI-MU / AA / AFR)</a:t>
            </a:r>
            <a:endParaRPr lang="en-US" sz="1733" dirty="0"/>
          </a:p>
        </p:txBody>
      </p:sp>
      <p:sp>
        <p:nvSpPr>
          <p:cNvPr id="33" name="key chip HI-WH"/>
          <p:cNvSpPr/>
          <p:nvPr/>
        </p:nvSpPr>
        <p:spPr>
          <a:xfrm>
            <a:off x="487680" y="11920728"/>
            <a:ext cx="243840" cy="243840"/>
          </a:xfrm>
          <a:prstGeom prst="rect">
            <a:avLst/>
          </a:prstGeom>
          <a:solidFill>
            <a:srgbClr val="4D4D4D"/>
          </a:solidFill>
          <a:ln w="12700">
            <a:solidFill>
              <a:srgbClr val="4D4D4D"/>
            </a:solidFill>
            <a:prstDash val="solid"/>
          </a:ln>
        </p:spPr>
      </p:sp>
      <p:sp>
        <p:nvSpPr>
          <p:cNvPr id="34" name="Text 24"/>
          <p:cNvSpPr txBox="1"/>
          <p:nvPr/>
        </p:nvSpPr>
        <p:spPr>
          <a:xfrm>
            <a:off x="883920" y="11859768"/>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HI-WH  </a:t>
            </a:r>
            <a:pPr indent="0" marL="0">
              <a:buNone/>
            </a:pPr>
            <a:r>
              <a:rPr lang="en-US" sz="2133" dirty="0">
                <a:solidFill>
                  <a:srgbClr val="1A1A1A"/>
                </a:solidFill>
                <a:latin typeface="Arial" pitchFamily="34" charset="0"/>
                <a:ea typeface="Arial" pitchFamily="34" charset="-122"/>
                <a:cs typeface="Arial" pitchFamily="34" charset="-120"/>
              </a:rPr>
              <a:t>Hispanic, European descent · 3 sites</a:t>
            </a:r>
            <a:endParaRPr lang="en-US" sz="2133" dirty="0"/>
          </a:p>
        </p:txBody>
      </p:sp>
      <p:sp>
        <p:nvSpPr>
          <p:cNvPr id="35" name="key chip HI-MU"/>
          <p:cNvSpPr/>
          <p:nvPr/>
        </p:nvSpPr>
        <p:spPr>
          <a:xfrm>
            <a:off x="487680" y="12237720"/>
            <a:ext cx="243840" cy="243840"/>
          </a:xfrm>
          <a:prstGeom prst="rect">
            <a:avLst/>
          </a:prstGeom>
          <a:solidFill>
            <a:srgbClr val="E69F00"/>
          </a:solidFill>
          <a:ln w="12700">
            <a:solidFill>
              <a:srgbClr val="E69F00"/>
            </a:solidFill>
            <a:prstDash val="solid"/>
          </a:ln>
        </p:spPr>
      </p:sp>
      <p:sp>
        <p:nvSpPr>
          <p:cNvPr id="36" name="Text 26"/>
          <p:cNvSpPr txBox="1"/>
          <p:nvPr/>
        </p:nvSpPr>
        <p:spPr>
          <a:xfrm>
            <a:off x="883920" y="12176760"/>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HI-MU  </a:t>
            </a:r>
            <a:pPr indent="0" marL="0">
              <a:buNone/>
            </a:pPr>
            <a:r>
              <a:rPr lang="en-US" sz="2133" dirty="0">
                <a:solidFill>
                  <a:srgbClr val="1A1A1A"/>
                </a:solidFill>
                <a:latin typeface="Arial" pitchFamily="34" charset="0"/>
                <a:ea typeface="Arial" pitchFamily="34" charset="-122"/>
                <a:cs typeface="Arial" pitchFamily="34" charset="-120"/>
              </a:rPr>
              <a:t>Hispanic, mixed origin · 6 sites</a:t>
            </a:r>
            <a:endParaRPr lang="en-US" sz="2133" dirty="0"/>
          </a:p>
        </p:txBody>
      </p:sp>
      <p:sp>
        <p:nvSpPr>
          <p:cNvPr id="37" name="key chip AA"/>
          <p:cNvSpPr/>
          <p:nvPr/>
        </p:nvSpPr>
        <p:spPr>
          <a:xfrm>
            <a:off x="487680" y="12554712"/>
            <a:ext cx="243840" cy="243840"/>
          </a:xfrm>
          <a:prstGeom prst="rect">
            <a:avLst/>
          </a:prstGeom>
          <a:solidFill>
            <a:srgbClr val="0072B2"/>
          </a:solidFill>
          <a:ln w="12700">
            <a:solidFill>
              <a:srgbClr val="0072B2"/>
            </a:solidFill>
            <a:prstDash val="solid"/>
          </a:ln>
        </p:spPr>
      </p:sp>
      <p:sp>
        <p:nvSpPr>
          <p:cNvPr id="38" name="Text 28"/>
          <p:cNvSpPr txBox="1"/>
          <p:nvPr/>
        </p:nvSpPr>
        <p:spPr>
          <a:xfrm>
            <a:off x="883920" y="12493752"/>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AA  </a:t>
            </a:r>
            <a:pPr indent="0" marL="0">
              <a:buNone/>
            </a:pPr>
            <a:r>
              <a:rPr lang="en-US" sz="2133" dirty="0">
                <a:solidFill>
                  <a:srgbClr val="1A1A1A"/>
                </a:solidFill>
                <a:latin typeface="Arial" pitchFamily="34" charset="0"/>
                <a:ea typeface="Arial" pitchFamily="34" charset="-122"/>
                <a:cs typeface="Arial" pitchFamily="34" charset="-120"/>
              </a:rPr>
              <a:t>African American · 6 sites</a:t>
            </a:r>
            <a:endParaRPr lang="en-US" sz="2133" dirty="0"/>
          </a:p>
        </p:txBody>
      </p:sp>
      <p:sp>
        <p:nvSpPr>
          <p:cNvPr id="39" name="key chip AFR"/>
          <p:cNvSpPr/>
          <p:nvPr/>
        </p:nvSpPr>
        <p:spPr>
          <a:xfrm>
            <a:off x="487680" y="12871704"/>
            <a:ext cx="243840" cy="243840"/>
          </a:xfrm>
          <a:prstGeom prst="rect">
            <a:avLst/>
          </a:prstGeom>
          <a:solidFill>
            <a:srgbClr val="D55E00"/>
          </a:solidFill>
          <a:ln w="12700">
            <a:solidFill>
              <a:srgbClr val="D55E00"/>
            </a:solidFill>
            <a:prstDash val="solid"/>
          </a:ln>
        </p:spPr>
      </p:sp>
      <p:sp>
        <p:nvSpPr>
          <p:cNvPr id="40" name="Text 30"/>
          <p:cNvSpPr txBox="1"/>
          <p:nvPr/>
        </p:nvSpPr>
        <p:spPr>
          <a:xfrm>
            <a:off x="883920" y="12810744"/>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AFR  </a:t>
            </a:r>
            <a:pPr indent="0" marL="0">
              <a:buNone/>
            </a:pPr>
            <a:r>
              <a:rPr lang="en-US" sz="2133" dirty="0">
                <a:solidFill>
                  <a:srgbClr val="1A1A1A"/>
                </a:solidFill>
                <a:latin typeface="Arial" pitchFamily="34" charset="0"/>
                <a:ea typeface="Arial" pitchFamily="34" charset="-122"/>
                <a:cs typeface="Arial" pitchFamily="34" charset="-120"/>
              </a:rPr>
              <a:t>African · 13 sites</a:t>
            </a:r>
            <a:endParaRPr lang="en-US" sz="2133" dirty="0"/>
          </a:p>
        </p:txBody>
      </p:sp>
      <p:sp>
        <p:nvSpPr>
          <p:cNvPr id="41" name="Text 31"/>
          <p:cNvSpPr txBox="1"/>
          <p:nvPr/>
        </p:nvSpPr>
        <p:spPr>
          <a:xfrm>
            <a:off x="883920" y="13158216"/>
            <a:ext cx="9936480" cy="25755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22 sites in all: five serve more than one group</a:t>
            </a:r>
            <a:endParaRPr lang="en-US" sz="1733" dirty="0"/>
          </a:p>
        </p:txBody>
      </p:sp>
      <p:sp>
        <p:nvSpPr>
          <p:cNvPr id="42" name="Text 32"/>
          <p:cNvSpPr txBox="1"/>
          <p:nvPr/>
        </p:nvSpPr>
        <p:spPr>
          <a:xfrm>
            <a:off x="457200" y="13598652"/>
            <a:ext cx="10363200" cy="2776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Alamar NULISAseq CNS panel: 131 targets, 126 proteins after the hemolysis filter</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2 reagent lots, each fitted alone: lot 1, 2,467 participants (2025); lot 2, 1,806 (2026)</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model: ancestry, sex, age, diagnosis, reads and a blood-cell score, with site and assay run as random effects; full methods in the supplement</a:t>
            </a:r>
            <a:endParaRPr lang="en-US" sz="2400" dirty="0"/>
          </a:p>
        </p:txBody>
      </p:sp>
      <p:sp>
        <p:nvSpPr>
          <p:cNvPr id="43" name="APOE ε4: THE COUNTER-EXAMPLE"/>
          <p:cNvSpPr/>
          <p:nvPr/>
        </p:nvSpPr>
        <p:spPr>
          <a:xfrm>
            <a:off x="457200" y="16497300"/>
            <a:ext cx="10363200" cy="2429256"/>
          </a:xfrm>
          <a:prstGeom prst="rect">
            <a:avLst/>
          </a:prstGeom>
          <a:solidFill>
            <a:srgbClr val="FFF1DC"/>
          </a:solidFill>
          <a:ln w="12700">
            <a:solidFill>
              <a:srgbClr val="FFF1DC"/>
            </a:solidFill>
            <a:prstDash val="solid"/>
          </a:ln>
        </p:spPr>
      </p:sp>
      <p:sp>
        <p:nvSpPr>
          <p:cNvPr id="44" name="Text 34"/>
          <p:cNvSpPr txBox="1"/>
          <p:nvPr/>
        </p:nvSpPr>
        <p:spPr>
          <a:xfrm>
            <a:off x="701040" y="167106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APOE ε4: THE COUNTER-EXAMPLE</a:t>
            </a:r>
            <a:endParaRPr lang="en-US" sz="2000" dirty="0"/>
          </a:p>
        </p:txBody>
      </p:sp>
      <p:sp>
        <p:nvSpPr>
          <p:cNvPr id="45" name="Text 35"/>
          <p:cNvSpPr txBox="1"/>
          <p:nvPr/>
        </p:nvSpPr>
        <p:spPr>
          <a:xfrm>
            <a:off x="701040" y="17068800"/>
            <a:ext cx="9875520" cy="1766316"/>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among the cognitively normal, no sign that the ε4 effect on p-tau differs by group (pTau-217 p 0.75 in lot 1, 0.55 in lot 2)</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the group difference in the ε4 slope is a lot-1 result that comes with the diagnosis mix (clinical AD: African 38%, AA 9% of those fits)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ε4 dose at NCI 0.22 / 0.20 / 0.44 / 0.49; figure in the supplement</a:t>
            </a:r>
            <a:endParaRPr lang="en-US" sz="2000" dirty="0"/>
          </a:p>
        </p:txBody>
      </p:sp>
      <p:sp>
        <p:nvSpPr>
          <p:cNvPr id="46" name="Text 36"/>
          <p:cNvSpPr txBox="1"/>
          <p:nvPr/>
        </p:nvSpPr>
        <p:spPr>
          <a:xfrm>
            <a:off x="113284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1. ANCESTRY MOVES THE BASELINE</a:t>
            </a:r>
            <a:endParaRPr lang="en-US" sz="3333" dirty="0"/>
          </a:p>
        </p:txBody>
      </p:sp>
      <p:sp>
        <p:nvSpPr>
          <p:cNvPr id="47" name="Shape 37"/>
          <p:cNvSpPr/>
          <p:nvPr/>
        </p:nvSpPr>
        <p:spPr>
          <a:xfrm>
            <a:off x="11328400" y="6365748"/>
            <a:ext cx="10363200" cy="0"/>
          </a:xfrm>
          <a:prstGeom prst="line">
            <a:avLst/>
          </a:prstGeom>
          <a:noFill/>
          <a:ln w="50800">
            <a:solidFill>
              <a:srgbClr val="1F2A44"/>
            </a:solidFill>
            <a:prstDash val="solid"/>
          </a:ln>
        </p:spPr>
      </p:sp>
      <p:sp>
        <p:nvSpPr>
          <p:cNvPr id="48" name="Text 38"/>
          <p:cNvSpPr txBox="1"/>
          <p:nvPr/>
        </p:nvSpPr>
        <p:spPr>
          <a:xfrm>
            <a:off x="113284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All 49 African vs HI-WH differences point the same way in both lots</a:t>
            </a:r>
            <a:endParaRPr lang="en-US" sz="2800" dirty="0"/>
          </a:p>
        </p:txBody>
      </p:sp>
      <p:pic>
        <p:nvPicPr>
          <p:cNvPr id="49" name="fig2a_afr_caterpillar" descr="The 49 proteins that differ between African and HI-WH cognitively normal participants, ranked from MME and S100A12 (lower in African participants) to ARSA and APOE4 (higher), each with its lot-1 (filled) and lot-2 (hollow) estimate and 95% interval; every protein has the same sign in both lots.">    </p:cNvPr>
          <p:cNvPicPr>
            <a:picLocks noChangeAspect="1"/>
          </p:cNvPicPr>
          <p:nvPr/>
        </p:nvPicPr>
        <p:blipFill>
          <a:blip r:embed="rId9"/>
          <a:stretch>
            <a:fillRect/>
          </a:stretch>
        </p:blipFill>
        <p:spPr>
          <a:xfrm>
            <a:off x="13165513" y="7466076"/>
            <a:ext cx="6688975" cy="4328160"/>
          </a:xfrm>
          <a:prstGeom prst="rect">
            <a:avLst/>
          </a:prstGeom>
        </p:spPr>
      </p:pic>
      <p:sp>
        <p:nvSpPr>
          <p:cNvPr id="50" name="Text 39"/>
          <p:cNvSpPr txBox="1"/>
          <p:nvPr/>
        </p:nvSpPr>
        <p:spPr>
          <a:xfrm>
            <a:off x="11328400" y="11855196"/>
            <a:ext cx="10363200" cy="1277112"/>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68 of 126 differ; vs HI-WH at NCI: African 49, AA 38, HI-MU 3</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ρ 0.93 between lots, size ratio 0.99; 19 above 2-fold; lots disagree for 5 (‡), reagent changed for 3 (†): lot 1 shown</a:t>
            </a:r>
            <a:endParaRPr lang="en-US" sz="2400" dirty="0"/>
          </a:p>
        </p:txBody>
      </p:sp>
      <p:sp>
        <p:nvSpPr>
          <p:cNvPr id="51" name="Text 40"/>
          <p:cNvSpPr txBox="1"/>
          <p:nvPr/>
        </p:nvSpPr>
        <p:spPr>
          <a:xfrm>
            <a:off x="11328400" y="13284708"/>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The CHIT1 difference is the allele frequency; for IL6R, about half of it</a:t>
            </a:r>
            <a:endParaRPr lang="en-US" sz="2800" dirty="0"/>
          </a:p>
        </p:txBody>
      </p:sp>
      <p:pic>
        <p:nvPicPr>
          <p:cNvPr id="52" name="fig_pqtl_dose_freq" descr="Three proteins in columns. Top row: the protein against the number of copies of its variant, among cognitively normal participants with whole-genome sequence, one line per ancestry group. Bottom row: each group's difference from HI-WH against that group's allele frequency, with the difference the per-allele effect predicts as a dashed line; CHIT1 with the 24-bp duplication, IL6R with Asp358Ala, TIMP3 with rs4339044.">    </p:cNvPr>
          <p:cNvPicPr>
            <a:picLocks noChangeAspect="1"/>
          </p:cNvPicPr>
          <p:nvPr/>
        </p:nvPicPr>
        <p:blipFill>
          <a:blip r:embed="rId10"/>
          <a:stretch>
            <a:fillRect/>
          </a:stretch>
        </p:blipFill>
        <p:spPr>
          <a:xfrm>
            <a:off x="13647783" y="14177772"/>
            <a:ext cx="5724434" cy="3535680"/>
          </a:xfrm>
          <a:prstGeom prst="rect">
            <a:avLst/>
          </a:prstGeom>
        </p:spPr>
      </p:pic>
      <p:sp>
        <p:nvSpPr>
          <p:cNvPr id="53" name="Text 41"/>
          <p:cNvSpPr txBox="1"/>
          <p:nvPr/>
        </p:nvSpPr>
        <p:spPr>
          <a:xfrm>
            <a:off x="11328400" y="17713452"/>
            <a:ext cx="10363200" cy="160629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Top: by allele dose within group, cognitively normal with WGS. Bottom: each group vs HI-WH against its frequency; dashed = per-allele effect × frequency; % = whole-cohort share. Before / after the genotype enters the model, sequenced participants, both lots in one fit with a lot term: CHIT1 +1.55 to +0.05 log2, IL6R −0.35 to −0.03, TIMP3 −0.13 to +0.01 (cohort −1.23). WGS 2,278 of 4,273; 30 of the 49 have no variant in the WGS set, 9 have one that does not move the protein.</a:t>
            </a:r>
            <a:endParaRPr lang="en-US" sz="1733" dirty="0"/>
          </a:p>
        </p:txBody>
      </p:sp>
      <p:sp>
        <p:nvSpPr>
          <p:cNvPr id="54" name="Text 42"/>
          <p:cNvSpPr txBox="1"/>
          <p:nvPr/>
        </p:nvSpPr>
        <p:spPr>
          <a:xfrm>
            <a:off x="221996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2. ANCESTRY RARELY MOVES THE AD SIGNAL</a:t>
            </a:r>
            <a:endParaRPr lang="en-US" sz="3333" dirty="0"/>
          </a:p>
        </p:txBody>
      </p:sp>
      <p:sp>
        <p:nvSpPr>
          <p:cNvPr id="55" name="Shape 43"/>
          <p:cNvSpPr/>
          <p:nvPr/>
        </p:nvSpPr>
        <p:spPr>
          <a:xfrm>
            <a:off x="22199600" y="6365748"/>
            <a:ext cx="10363200" cy="0"/>
          </a:xfrm>
          <a:prstGeom prst="line">
            <a:avLst/>
          </a:prstGeom>
          <a:noFill/>
          <a:ln w="50800">
            <a:solidFill>
              <a:srgbClr val="1F2A44"/>
            </a:solidFill>
            <a:prstDash val="solid"/>
          </a:ln>
        </p:spPr>
      </p:sp>
      <p:sp>
        <p:nvSpPr>
          <p:cNvPr id="56" name="Text 44"/>
          <p:cNvSpPr txBox="1"/>
          <p:nvPr/>
        </p:nvSpPr>
        <p:spPr>
          <a:xfrm>
            <a:off x="221996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p-tau rises with AD in every group, in both lots; BD-pTau-217 rises least in African participants</a:t>
            </a:r>
            <a:endParaRPr lang="en-US" sz="2800" dirty="0"/>
          </a:p>
        </p:txBody>
      </p:sp>
      <p:pic>
        <p:nvPicPr>
          <p:cNvPr id="57" name="fig4b_ad_effect_by_group" descr="AD minus cognitively normal difference within each group, lot 1 filled and lot 2 hollow, for eight markers: BD-pTau-217, pTau-217, BD-pTau-181 and NEFL rise in every group, BD-pTau-217 least in African participants; Abeta42, TREM2, pSNCA-129 and SNCA show no AD signal.">    </p:cNvPr>
          <p:cNvPicPr>
            <a:picLocks noChangeAspect="1"/>
          </p:cNvPicPr>
          <p:nvPr/>
        </p:nvPicPr>
        <p:blipFill>
          <a:blip r:embed="rId11"/>
          <a:stretch>
            <a:fillRect/>
          </a:stretch>
        </p:blipFill>
        <p:spPr>
          <a:xfrm>
            <a:off x="22199600" y="7466076"/>
            <a:ext cx="10363200" cy="4754880"/>
          </a:xfrm>
          <a:prstGeom prst="rect">
            <a:avLst/>
          </a:prstGeom>
        </p:spPr>
      </p:pic>
      <p:sp>
        <p:nvSpPr>
          <p:cNvPr id="58" name="Text 45"/>
          <p:cNvSpPr txBox="1"/>
          <p:nvPr/>
        </p:nvSpPr>
        <p:spPr>
          <a:xfrm>
            <a:off x="22199600" y="12281916"/>
            <a:ext cx="10363200" cy="847344"/>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12 group × diagnosis interactions of 126; BD-pTau-217 holds in lot 2 alone (p 0.002), pTau-217 and NEFL do not</a:t>
            </a:r>
            <a:endParaRPr lang="en-US" sz="2400" dirty="0"/>
          </a:p>
        </p:txBody>
      </p:sp>
      <p:sp>
        <p:nvSpPr>
          <p:cNvPr id="59" name="Text 46"/>
          <p:cNvSpPr txBox="1"/>
          <p:nvPr/>
        </p:nvSpPr>
        <p:spPr>
          <a:xfrm>
            <a:off x="22199600" y="13281660"/>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One BD-pTau-217 cut flags 5 to 10% of normals in every group, and fewer clinical AD at most African sites</a:t>
            </a:r>
            <a:endParaRPr lang="en-US" sz="2800" dirty="0"/>
          </a:p>
        </p:txBody>
      </p:sp>
      <p:pic>
        <p:nvPicPr>
          <p:cNvPr id="60" name="fig6_cutpoint_by_group" descr="Percent of clinical AD (filled) and cognitively normal (hollow) participants above a cut-point set at the HI-WH normals' 90th percentile within lot, by group, for five markers in each lot; for BD-pTau-217 the normals sit at 5 to 10 percent in every group, and fewer African participants with clinical AD are above the cut.">    </p:cNvPr>
          <p:cNvPicPr>
            <a:picLocks noChangeAspect="1"/>
          </p:cNvPicPr>
          <p:nvPr/>
        </p:nvPicPr>
        <p:blipFill>
          <a:blip r:embed="rId12"/>
          <a:stretch>
            <a:fillRect/>
          </a:stretch>
        </p:blipFill>
        <p:spPr>
          <a:xfrm>
            <a:off x="22199600" y="14174724"/>
            <a:ext cx="10363200" cy="3901440"/>
          </a:xfrm>
          <a:prstGeom prst="rect">
            <a:avLst/>
          </a:prstGeom>
        </p:spPr>
      </p:pic>
      <p:sp>
        <p:nvSpPr>
          <p:cNvPr id="61" name="Text 47"/>
          <p:cNvSpPr txBox="1"/>
          <p:nvPr/>
        </p:nvSpPr>
        <p:spPr>
          <a:xfrm>
            <a:off x="22199600" y="18076164"/>
            <a:ext cx="10363200" cy="1091184"/>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Cut: 90th percentile of HI-WH cognitively normal, within lot (10th for Aβ42). BD-pTau-217, clinical AD above the cut: African 30% vs 43 to 52% (lot 1), 41% vs 62 to 75% (lot 2; HI-WH 28 AD / 58 NCI, HI-MU 21 / 82); by site in lot 2, 5 of 8 African sites 31 to 44%, 3 (50 to 75%) with the other groups’ 50 to 76%; the same pattern on pTau-217 and BD-pTau-181.</a:t>
            </a:r>
            <a:endParaRPr lang="en-US" sz="1733" dirty="0"/>
          </a:p>
        </p:txBody>
      </p:sp>
      <p:sp>
        <p:nvSpPr>
          <p:cNvPr id="62" name="Text 48"/>
          <p:cNvSpPr txBox="1"/>
          <p:nvPr/>
        </p:nvSpPr>
        <p:spPr>
          <a:xfrm>
            <a:off x="330708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3. REGIONS WITHIN A GROUP</a:t>
            </a:r>
            <a:endParaRPr lang="en-US" sz="3333" dirty="0"/>
          </a:p>
        </p:txBody>
      </p:sp>
      <p:sp>
        <p:nvSpPr>
          <p:cNvPr id="63" name="Shape 49"/>
          <p:cNvSpPr/>
          <p:nvPr/>
        </p:nvSpPr>
        <p:spPr>
          <a:xfrm>
            <a:off x="33070800" y="6365748"/>
            <a:ext cx="10363200" cy="0"/>
          </a:xfrm>
          <a:prstGeom prst="line">
            <a:avLst/>
          </a:prstGeom>
          <a:noFill/>
          <a:ln w="50800">
            <a:solidFill>
              <a:srgbClr val="1F2A44"/>
            </a:solidFill>
            <a:prstDash val="solid"/>
          </a:ln>
        </p:spPr>
      </p:sp>
      <p:sp>
        <p:nvSpPr>
          <p:cNvPr id="64" name="Text 50"/>
          <p:cNvSpPr txBox="1"/>
          <p:nvPr/>
        </p:nvSpPr>
        <p:spPr>
          <a:xfrm>
            <a:off x="330708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With site in the model, 10 proteins differ Andean vs Caribbean and 5 East vs West Africa; 6 of the 15 are immune</a:t>
            </a:r>
            <a:endParaRPr lang="en-US" sz="2800" dirty="0"/>
          </a:p>
        </p:txBody>
      </p:sp>
      <p:pic>
        <p:nvPicPr>
          <p:cNvPr id="65" name="fig5_regional" descr="Proteins that differ by region with site accounted for, lot 1 filled and lot 2 hollow, coloured by function. Left, Andean minus Caribbean within one site: IL6R, IL6, CCL17, SAA1, IL13, PDGFRB, VEGFA, TAFA5, MME, CST3. Right, East minus West Africa with site in the model: CCL13, NPTX1, YWHAZ, MSLN, FOLR1.">    </p:cNvPr>
          <p:cNvPicPr>
            <a:picLocks noChangeAspect="1"/>
          </p:cNvPicPr>
          <p:nvPr/>
        </p:nvPicPr>
        <p:blipFill>
          <a:blip r:embed="rId13"/>
          <a:stretch>
            <a:fillRect/>
          </a:stretch>
        </p:blipFill>
        <p:spPr>
          <a:xfrm>
            <a:off x="33070800" y="7882128"/>
            <a:ext cx="10363200" cy="5486400"/>
          </a:xfrm>
          <a:prstGeom prst="rect">
            <a:avLst/>
          </a:prstGeom>
        </p:spPr>
      </p:pic>
      <p:sp>
        <p:nvSpPr>
          <p:cNvPr id="66" name="Text 51"/>
          <p:cNvSpPr txBox="1"/>
          <p:nvPr/>
        </p:nvSpPr>
        <p:spPr>
          <a:xfrm>
            <a:off x="33070800" y="13429488"/>
            <a:ext cx="10363200" cy="1277112"/>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197 of 260 Andean are at Peru: compared within one shared site</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IL6R higher in Andean participants, as rs2228145-C predicts (gnomAD: Latino 0.53, European 0.40, African 0.13)</a:t>
            </a:r>
            <a:endParaRPr lang="en-US" sz="2400" dirty="0"/>
          </a:p>
        </p:txBody>
      </p:sp>
      <p:sp>
        <p:nvSpPr>
          <p:cNvPr id="67" name="CAVEATS"/>
          <p:cNvSpPr/>
          <p:nvPr/>
        </p:nvSpPr>
        <p:spPr>
          <a:xfrm>
            <a:off x="33070800" y="14859000"/>
            <a:ext cx="10363200" cy="2205228"/>
          </a:xfrm>
          <a:prstGeom prst="rect">
            <a:avLst/>
          </a:prstGeom>
          <a:solidFill>
            <a:srgbClr val="FFF1DC"/>
          </a:solidFill>
          <a:ln w="12700">
            <a:solidFill>
              <a:srgbClr val="FFF1DC"/>
            </a:solidFill>
            <a:prstDash val="solid"/>
          </a:ln>
        </p:spPr>
      </p:sp>
      <p:sp>
        <p:nvSpPr>
          <p:cNvPr id="68" name="Text 53"/>
          <p:cNvSpPr txBox="1"/>
          <p:nvPr/>
        </p:nvSpPr>
        <p:spPr>
          <a:xfrm>
            <a:off x="33314640" y="150723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CAVEATS</a:t>
            </a:r>
            <a:endParaRPr lang="en-US" sz="2000" dirty="0"/>
          </a:p>
        </p:txBody>
      </p:sp>
      <p:sp>
        <p:nvSpPr>
          <p:cNvPr id="69" name="Text 54"/>
          <p:cNvSpPr txBox="1"/>
          <p:nvPr/>
        </p:nvSpPr>
        <p:spPr>
          <a:xfrm>
            <a:off x="33314640" y="15430500"/>
            <a:ext cx="9875520" cy="1542288"/>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clinical diagnosis, not amyloid-confirmed; one draw per person</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groups: self-identified (US) or country of birth (Africa)</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African: own 13 sites, one assay run in lot 1</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handling, storage, diagnostic workup differ by site</a:t>
            </a:r>
            <a:endParaRPr lang="en-US" sz="2000" dirty="0"/>
          </a:p>
        </p:txBody>
      </p:sp>
      <p:sp>
        <p:nvSpPr>
          <p:cNvPr id="70" name="SUPPLEMENT"/>
          <p:cNvSpPr/>
          <p:nvPr/>
        </p:nvSpPr>
        <p:spPr>
          <a:xfrm>
            <a:off x="33070800" y="17247108"/>
            <a:ext cx="10363200" cy="1912620"/>
          </a:xfrm>
          <a:prstGeom prst="rect">
            <a:avLst/>
          </a:prstGeom>
          <a:solidFill>
            <a:srgbClr val="EEF0F5"/>
          </a:solidFill>
          <a:ln w="12700">
            <a:solidFill>
              <a:srgbClr val="EEF0F5"/>
            </a:solidFill>
            <a:prstDash val="solid"/>
          </a:ln>
        </p:spPr>
      </p:sp>
      <p:sp>
        <p:nvSpPr>
          <p:cNvPr id="71" name="Text 56"/>
          <p:cNvSpPr txBox="1"/>
          <p:nvPr/>
        </p:nvSpPr>
        <p:spPr>
          <a:xfrm>
            <a:off x="33314640" y="17429988"/>
            <a:ext cx="8168640" cy="335280"/>
          </a:xfrm>
          <a:prstGeom prst="rect">
            <a:avLst/>
          </a:prstGeom>
          <a:noFill/>
          <a:ln/>
        </p:spPr>
        <p:txBody>
          <a:bodyPr wrap="square" lIns="0" tIns="0" rIns="0" bIns="0" rtlCol="0" anchor="t"/>
          <a:lstStyle/>
          <a:p>
            <a:pPr indent="0" marL="0">
              <a:buNone/>
            </a:pPr>
            <a:r>
              <a:rPr lang="en-US" sz="2000" b="1" spc="133" kern="0" dirty="0">
                <a:solidFill>
                  <a:srgbClr val="1F2A44"/>
                </a:solidFill>
                <a:latin typeface="Arial" pitchFamily="34" charset="0"/>
                <a:ea typeface="Arial" pitchFamily="34" charset="-122"/>
                <a:cs typeface="Arial" pitchFamily="34" charset="-120"/>
              </a:rPr>
              <a:t>SUPPLEMENT</a:t>
            </a:r>
            <a:endParaRPr lang="en-US" sz="2000" dirty="0"/>
          </a:p>
        </p:txBody>
      </p:sp>
      <p:sp>
        <p:nvSpPr>
          <p:cNvPr id="72" name="Text 57"/>
          <p:cNvSpPr txBox="1"/>
          <p:nvPr/>
        </p:nvSpPr>
        <p:spPr>
          <a:xfrm>
            <a:off x="33314640" y="17788128"/>
            <a:ext cx="8168640" cy="1249680"/>
          </a:xfrm>
          <a:prstGeom prst="rect">
            <a:avLst/>
          </a:prstGeom>
          <a:noFill/>
          <a:ln/>
        </p:spPr>
        <p:txBody>
          <a:bodyPr wrap="square" lIns="0" tIns="0" rIns="0" bIns="0" rtlCol="0" anchor="t"/>
          <a:lstStyle/>
          <a:p>
            <a:pPr indent="0" marL="0">
              <a:buNone/>
            </a:pPr>
            <a:r>
              <a:rPr lang="en-US" sz="2000" dirty="0">
                <a:solidFill>
                  <a:srgbClr val="1A1A1A"/>
                </a:solidFill>
                <a:latin typeface="Arial" pitchFamily="34" charset="0"/>
                <a:ea typeface="Arial" pitchFamily="34" charset="-122"/>
                <a:cs typeface="Arial" pitchFamily="34" charset="-120"/>
              </a:rPr>
              <a:t>detailed methods and the model, the model-term table, the ε4 figure, the six-arm interaction matrix, the five-panel cohort figure, per-lot tables, the full genotype table · github.com/emartin-um/ASHG2026-supplement</a:t>
            </a:r>
            <a:endParaRPr lang="en-US" sz="2000" dirty="0"/>
          </a:p>
        </p:txBody>
      </p:sp>
      <p:pic>
        <p:nvPicPr>
          <p:cNvPr id="73" name="QR supplement" descr="QR code to the public supplement at github.com/emartin-um/ASHG2026-supplement">    </p:cNvPr>
          <p:cNvPicPr>
            <a:picLocks noChangeAspect="1"/>
          </p:cNvPicPr>
          <p:nvPr/>
        </p:nvPicPr>
        <p:blipFill>
          <a:blip r:embed="rId14"/>
          <a:stretch>
            <a:fillRect/>
          </a:stretch>
        </p:blipFill>
        <p:spPr>
          <a:xfrm>
            <a:off x="41818560" y="17471898"/>
            <a:ext cx="1463040" cy="1463040"/>
          </a:xfrm>
          <a:prstGeom prst="rect">
            <a:avLst/>
          </a:prstGeom>
        </p:spPr>
      </p:pic>
      <p:sp>
        <p:nvSpPr>
          <p:cNvPr id="74" name="what this means"/>
          <p:cNvSpPr/>
          <p:nvPr/>
        </p:nvSpPr>
        <p:spPr>
          <a:xfrm>
            <a:off x="457200" y="19690080"/>
            <a:ext cx="32105600" cy="1920240"/>
          </a:xfrm>
          <a:prstGeom prst="rect">
            <a:avLst/>
          </a:prstGeom>
          <a:solidFill>
            <a:srgbClr val="1F2A44"/>
          </a:solidFill>
          <a:ln w="12700">
            <a:solidFill>
              <a:srgbClr val="1F2A44"/>
            </a:solidFill>
            <a:prstDash val="solid"/>
          </a:ln>
        </p:spPr>
      </p:sp>
      <p:sp>
        <p:nvSpPr>
          <p:cNvPr id="75" name="Text 59"/>
          <p:cNvSpPr txBox="1"/>
          <p:nvPr/>
        </p:nvSpPr>
        <p:spPr>
          <a:xfrm>
            <a:off x="822960" y="19812000"/>
            <a:ext cx="31374080" cy="1676400"/>
          </a:xfrm>
          <a:prstGeom prst="rect">
            <a:avLst/>
          </a:prstGeom>
          <a:noFill/>
          <a:ln/>
        </p:spPr>
        <p:txBody>
          <a:bodyPr wrap="square" lIns="0" tIns="0" rIns="0" bIns="0" rtlCol="0" anchor="ctr"/>
          <a:lstStyle/>
          <a:p>
            <a:pPr indent="0" marL="0">
              <a:spcAft>
                <a:spcPts val="400"/>
              </a:spcAft>
              <a:buNone/>
            </a:pPr>
            <a:r>
              <a:rPr lang="en-US" sz="1733" b="1" spc="200" kern="0" dirty="0">
                <a:solidFill>
                  <a:srgbClr val="D9DEEA"/>
                </a:solidFill>
                <a:latin typeface="Arial" pitchFamily="34" charset="0"/>
                <a:ea typeface="Arial" pitchFamily="34" charset="-122"/>
                <a:cs typeface="Arial" pitchFamily="34" charset="-120"/>
              </a:rPr>
              <a:t>WHAT THIS MEANS</a:t>
            </a:r>
            <a:endParaRPr lang="en-US" sz="1733" dirty="0"/>
          </a:p>
          <a:p>
            <a:pPr indent="0" marL="0">
              <a:spcAft>
                <a:spcPts val="533"/>
              </a:spcAft>
              <a:buNone/>
            </a:pPr>
            <a:r>
              <a:rPr lang="en-US" sz="3733" b="1" dirty="0">
                <a:solidFill>
                  <a:srgbClr val="FFFFFF"/>
                </a:solidFill>
                <a:latin typeface="Arial" pitchFamily="34" charset="0"/>
                <a:ea typeface="Arial" pitchFamily="34" charset="-122"/>
                <a:cs typeface="Arial" pitchFamily="34" charset="-120"/>
              </a:rPr>
              <a:t>A cut-point that travels, and a clinical diagnosis that may not.</a:t>
            </a:r>
            <a:endParaRPr lang="en-US" sz="1733" dirty="0"/>
          </a:p>
          <a:p>
            <a:pPr indent="0" marL="0">
              <a:buNone/>
            </a:pPr>
            <a:r>
              <a:rPr lang="en-US" sz="2133" dirty="0">
                <a:solidFill>
                  <a:srgbClr val="D9DEEA"/>
                </a:solidFill>
                <a:latin typeface="Arial" pitchFamily="34" charset="0"/>
                <a:ea typeface="Arial" pitchFamily="34" charset="-122"/>
                <a:cs typeface="Arial" pitchFamily="34" charset="-120"/>
              </a:rPr>
              <a:t>p-tau: one cut flags the same share of normals everywhere; check diagnosis at African sites before recalibrating   ·   Aβ42 alone does not separate AD in any group   ·   a one-site population difference is a site difference until shown otherwise</a:t>
            </a:r>
            <a:endParaRPr lang="en-US" sz="1733" dirty="0"/>
          </a:p>
        </p:txBody>
      </p:sp>
      <p:sp>
        <p:nvSpPr>
          <p:cNvPr id="76" name="Text 60"/>
          <p:cNvSpPr txBox="1"/>
          <p:nvPr/>
        </p:nvSpPr>
        <p:spPr>
          <a:xfrm>
            <a:off x="33070800" y="19690080"/>
            <a:ext cx="10363200" cy="1920240"/>
          </a:xfrm>
          <a:prstGeom prst="rect">
            <a:avLst/>
          </a:prstGeom>
          <a:noFill/>
          <a:ln/>
        </p:spPr>
        <p:txBody>
          <a:bodyPr wrap="square" lIns="0" tIns="0" rIns="0" bIns="0" rtlCol="0" anchor="ctr"/>
          <a:lstStyle/>
          <a:p>
            <a:pPr indent="0" marL="0">
              <a:buNone/>
            </a:pPr>
            <a:r>
              <a:rPr lang="en-US" sz="1267" b="1" dirty="0">
                <a:solidFill>
                  <a:srgbClr val="1F2A44"/>
                </a:solidFill>
                <a:latin typeface="Arial" pitchFamily="34" charset="0"/>
                <a:ea typeface="Arial" pitchFamily="34" charset="-122"/>
                <a:cs typeface="Arial" pitchFamily="34" charset="-120"/>
              </a:rPr>
              <a:t>ACKNOWLEDGMENTS  </a:t>
            </a:r>
            <a:pPr indent="0" marL="0">
              <a:spcAft>
                <a:spcPts val="400"/>
              </a:spcAft>
              <a:buNone/>
            </a:pPr>
            <a:r>
              <a:rPr lang="en-US" sz="1267" dirty="0">
                <a:solidFill>
                  <a:srgbClr val="4A4A4A"/>
                </a:solidFill>
                <a:latin typeface="Arial" pitchFamily="34" charset="0"/>
                <a:ea typeface="Arial" pitchFamily="34" charset="-122"/>
                <a:cs typeface="Arial" pitchFamily="34" charset="-120"/>
              </a:rPr>
              <a:t>We are grateful to the individuals and families who generously participate in these studies. Contributing studies: DAWN, PeADI and PRADI. Support: NIH/NIA AG084545, AG076482, AG066767, AG072547, AG081817 and AG070864. Disclosure: nothing to disclose. Proteins are named by HGNC symbol; per-marker estimates on request.</a:t>
            </a:r>
            <a:endParaRPr lang="en-US" sz="1267" dirty="0"/>
          </a:p>
          <a:p>
            <a:pPr indent="0" marL="0">
              <a:buNone/>
            </a:pPr>
            <a:r>
              <a:rPr lang="en-US" sz="1267" b="1" dirty="0">
                <a:solidFill>
                  <a:srgbClr val="1F2A44"/>
                </a:solidFill>
                <a:latin typeface="Arial" pitchFamily="34" charset="0"/>
                <a:ea typeface="Arial" pitchFamily="34" charset="-122"/>
                <a:cs typeface="Arial" pitchFamily="34" charset="-120"/>
              </a:rPr>
              <a:t>REFERENCES  </a:t>
            </a:r>
            <a:pPr indent="0" marL="0">
              <a:buNone/>
            </a:pPr>
            <a:r>
              <a:rPr lang="en-US" sz="1267" dirty="0">
                <a:solidFill>
                  <a:srgbClr val="4A4A4A"/>
                </a:solidFill>
                <a:latin typeface="Arial" pitchFamily="34" charset="0"/>
                <a:ea typeface="Arial" pitchFamily="34" charset="-122"/>
                <a:cs typeface="Arial" pitchFamily="34" charset="-120"/>
              </a:rPr>
              <a:t>1. Griswold AJ, Rajabli F, et al. Alzheimers Dement 2025;21:e14367.  2. Sun BB, et al. Nature 2023;622:329-338.  3. Yang C, et al. Nat Commun 2025;16:7412.</a:t>
            </a:r>
            <a:endParaRPr lang="en-US" sz="1267"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ASHG 2026 poster, board 1003W</dc:title>
  <dc:subject>PptxGenJS Presentation</dc:subject>
  <dc:creator>Eden R. Martin</dc:creator>
  <cp:lastModifiedBy>Eden R. Martin</cp:lastModifiedBy>
  <cp:revision>1</cp:revision>
  <dcterms:created xsi:type="dcterms:W3CDTF">2026-10-15T02:38:49Z</dcterms:created>
  <dcterms:modified xsi:type="dcterms:W3CDTF">2026-10-15T02:38:49Z</dcterms:modified>
</cp:coreProperties>
</file>